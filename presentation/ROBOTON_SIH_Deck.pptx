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B2A41"/>
                </a:solidFill>
                <a:latin typeface="Calibri"/>
              </a:defRPr>
            </a:pPr>
            <a:r>
              <a:rPr sz="1100" b="0" i="0" u="none" strike="noStrike">
                <a:solidFill>
                  <a:srgbClr val="1B2A41"/>
                </a:solidFill>
                <a:latin typeface="Calibri"/>
              </a:rPr>
              <a:t>30 AMRs: fleet time stopped (s)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Fleet time stopped (s)</c:v>
                </c:pt>
              </c:strCache>
            </c:strRef>
          </c:tx>
          <c:spPr>
            <a:solidFill>
              <a:srgbClr val="B04A3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A4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B04A3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E7D5B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Stop-and-wait</c:v>
                  </c:pt>
                  <c:pt idx="1">
                    <c:v>ROBOTON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31857</c:v>
                </c:pt>
                <c:pt idx="1">
                  <c:v>7585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B2A4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B2A4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000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image" Target="../media/image-3-12.png"/><Relationship Id="rId13" Type="http://schemas.openxmlformats.org/officeDocument/2006/relationships/image" Target="../media/image-3-13.png"/><Relationship Id="rId14" Type="http://schemas.openxmlformats.org/officeDocument/2006/relationships/image" Target="../media/image-3-14.png"/><Relationship Id="rId15" Type="http://schemas.openxmlformats.org/officeDocument/2006/relationships/image" Target="../media/image-3-15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/ppt/charts/chart1.xml"/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4" Type="http://schemas.openxmlformats.org/officeDocument/2006/relationships/image" Target="../media/image-5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74320" y="182880"/>
            <a:ext cx="2194560" cy="731520"/>
          </a:xfrm>
          <a:prstGeom prst="rect">
            <a:avLst/>
          </a:prstGeom>
          <a:noFill/>
          <a:ln w="19050">
            <a:solidFill>
              <a:srgbClr val="1B2A41"/>
            </a:solidFill>
            <a:prstDash val="dash"/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A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MINISTRY LOGO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9692640" y="182880"/>
            <a:ext cx="2194560" cy="731520"/>
          </a:xfrm>
          <a:prstGeom prst="rect">
            <a:avLst/>
          </a:prstGeom>
          <a:noFill/>
          <a:ln w="19050">
            <a:solidFill>
              <a:srgbClr val="1B2A41"/>
            </a:solidFill>
            <a:prstDash val="dash"/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A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 2026 LOGO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2743200" y="91440"/>
            <a:ext cx="6675120" cy="1371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B2A4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SMART INDIA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dirty="0">
                <a:solidFill>
                  <a:srgbClr val="1B2A4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HACKATHON 2026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828800"/>
            <a:ext cx="6309360" cy="457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i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 ID  -  </a:t>
            </a:r>
            <a:pPr algn="l" indent="0" marL="0">
              <a:spcAft>
                <a:spcPts val="1000"/>
              </a:spcAft>
              <a:buNone/>
            </a:pPr>
            <a:r>
              <a:rPr lang="en-US" sz="2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26123</a:t>
            </a:r>
            <a:endParaRPr lang="en-US" sz="22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i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 Title  -  </a:t>
            </a:r>
            <a:pPr algn="l" indent="0" marL="0">
              <a:spcAft>
                <a:spcPts val="1000"/>
              </a:spcAft>
              <a:buNone/>
            </a:pPr>
            <a:endParaRPr lang="en-US" sz="2200" dirty="0"/>
          </a:p>
          <a:p>
            <a:pPr algn="l" lvl="1" indent="0" marL="0">
              <a:spcAft>
                <a:spcPts val="1000"/>
              </a:spcAft>
              <a:buNone/>
            </a:pPr>
            <a:r>
              <a:rPr lang="en-US" sz="19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Edge-AI Based Distributed Fleet Coordination for Autonomous Mobile Robots (AMRs) in Smart Warehouses</a:t>
            </a:r>
            <a:endParaRPr lang="en-US" sz="22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i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Theme  -  </a:t>
            </a:r>
            <a:pPr algn="l" indent="0" marL="0">
              <a:spcAft>
                <a:spcPts val="1000"/>
              </a:spcAft>
              <a:buNone/>
            </a:pPr>
            <a:r>
              <a:rPr lang="en-US" sz="2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Automation</a:t>
            </a:r>
            <a:endParaRPr lang="en-US" sz="22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i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PS Category  -  </a:t>
            </a:r>
            <a:pPr algn="l" indent="0" marL="0">
              <a:spcAft>
                <a:spcPts val="1000"/>
              </a:spcAft>
              <a:buNone/>
            </a:pPr>
            <a:r>
              <a:rPr lang="en-US" sz="2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Software</a:t>
            </a:r>
            <a:endParaRPr lang="en-US" sz="22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i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ID  -  </a:t>
            </a:r>
            <a:pPr algn="l" indent="0" marL="0">
              <a:spcAft>
                <a:spcPts val="1000"/>
              </a:spcAft>
              <a:buNone/>
            </a:pPr>
            <a:r>
              <a:rPr lang="en-US" sz="2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 your team ID ]</a:t>
            </a:r>
            <a:endParaRPr lang="en-US" sz="22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i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Name  -  </a:t>
            </a:r>
            <a:pPr algn="l" indent="0" marL="0">
              <a:spcAft>
                <a:spcPts val="1000"/>
              </a:spcAft>
              <a:buNone/>
            </a:pPr>
            <a:r>
              <a:rPr lang="en-US" sz="2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Roboton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086600" y="2103120"/>
            <a:ext cx="4754880" cy="2880360"/>
          </a:xfrm>
          <a:prstGeom prst="roundRect">
            <a:avLst>
              <a:gd name="adj" fmla="val 4762"/>
            </a:avLst>
          </a:prstGeom>
          <a:solidFill>
            <a:srgbClr val="0E1520"/>
          </a:solidFill>
          <a:ln w="25400">
            <a:solidFill>
              <a:srgbClr val="1B2A41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0" y="2240280"/>
            <a:ext cx="4480560" cy="260604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086600" y="5074920"/>
            <a:ext cx="475488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A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AMRs coordinating on a warehouse floor. No central planner.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74320" y="182880"/>
            <a:ext cx="1828800" cy="548640"/>
          </a:xfrm>
          <a:prstGeom prst="rect">
            <a:avLst/>
          </a:prstGeom>
          <a:noFill/>
          <a:ln w="19050">
            <a:solidFill>
              <a:srgbClr val="1B2A41"/>
            </a:solidFill>
            <a:prstDash val="dash"/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A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NAME / LOGO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9418320" y="182880"/>
            <a:ext cx="2514600" cy="548640"/>
          </a:xfrm>
          <a:prstGeom prst="rect">
            <a:avLst/>
          </a:prstGeom>
          <a:noFill/>
          <a:ln w="19050">
            <a:solidFill>
              <a:srgbClr val="1B2A41"/>
            </a:solidFill>
            <a:prstDash val="dash"/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A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MINISTRY + SIH 2026 LOGOS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2286000" y="137160"/>
            <a:ext cx="704088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ROBOTON FLEET SYSTEM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3749040" cy="5669280"/>
          </a:xfrm>
          <a:prstGeom prst="roundRect">
            <a:avLst>
              <a:gd name="adj" fmla="val 4878"/>
            </a:avLst>
          </a:prstGeom>
          <a:solidFill>
            <a:srgbClr val="FFFFFF">
              <a:alpha val="85000"/>
            </a:srgbClr>
          </a:solidFill>
          <a:ln w="25400">
            <a:solidFill>
              <a:srgbClr val="1B2A4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74320" y="1069848"/>
            <a:ext cx="374904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A4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PROBLEM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411480" y="1645920"/>
            <a:ext cx="3474720" cy="4846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point of failure: </a:t>
            </a:r>
            <a:pPr algn="l" indent="0" marL="0">
              <a:spcAft>
                <a:spcPts val="1400"/>
              </a:spcAft>
              <a:buNone/>
            </a:pP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central server plans every route and assigns every task. If it goes down, the whole fleet stops.</a:t>
            </a:r>
            <a:endParaRPr lang="en-US" sz="1600" dirty="0"/>
          </a:p>
          <a:p>
            <a:pPr algn="l"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grows with fleet size: </a:t>
            </a:r>
            <a:pPr algn="l" indent="0" marL="0">
              <a:spcAft>
                <a:spcPts val="1400"/>
              </a:spcAft>
              <a:buNone/>
            </a:pP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decision is a round trip to the server, so more robots means slower decisions.</a:t>
            </a:r>
            <a:endParaRPr lang="en-US" sz="1600" dirty="0"/>
          </a:p>
          <a:p>
            <a:pPr algn="l"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Wi-Fi dead zones: </a:t>
            </a:r>
            <a:pPr algn="l" indent="0" marL="0">
              <a:spcAft>
                <a:spcPts val="1400"/>
              </a:spcAft>
              <a:buNone/>
            </a:pP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robot that loses coverage cannot get its next instruction and stands still.</a:t>
            </a:r>
            <a:endParaRPr lang="en-US" sz="1600" dirty="0"/>
          </a:p>
          <a:p>
            <a:pPr algn="l"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Stop-and-wait jams: </a:t>
            </a:r>
            <a:pPr algn="l" indent="0" marL="0">
              <a:spcAft>
                <a:spcPts val="1400"/>
              </a:spcAft>
              <a:buNone/>
            </a:pP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"halt when close" rules break down at density: 47 collisions and unfinished work at 30 AMRs in our baseline test.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160520" y="960120"/>
            <a:ext cx="3749040" cy="5669280"/>
          </a:xfrm>
          <a:prstGeom prst="roundRect">
            <a:avLst>
              <a:gd name="adj" fmla="val 4878"/>
            </a:avLst>
          </a:prstGeom>
          <a:solidFill>
            <a:srgbClr val="FFFFFF">
              <a:alpha val="85000"/>
            </a:srgbClr>
          </a:solidFill>
          <a:ln w="25400">
            <a:solidFill>
              <a:srgbClr val="1B2A4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160520" y="1069848"/>
            <a:ext cx="374904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A4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PROPOSED SOLUTION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4297680" y="1645920"/>
            <a:ext cx="3474720" cy="4846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Robots decide for themselves: </a:t>
            </a:r>
            <a:pPr algn="l" indent="0" marL="0">
              <a:spcAft>
                <a:spcPts val="1400"/>
              </a:spcAft>
              <a:buNone/>
            </a:pP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AMR plans its own route and bids for its own work, on board.</a:t>
            </a:r>
            <a:endParaRPr lang="en-US" sz="1600" dirty="0"/>
          </a:p>
          <a:p>
            <a:pPr algn="l"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auction: </a:t>
            </a:r>
            <a:pPr algn="l" indent="0" marL="0">
              <a:spcAft>
                <a:spcPts val="1400"/>
              </a:spcAft>
              <a:buNone/>
            </a:pP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order is broadcast; every robot prices it and the lowest bid wins. No dispatcher.</a:t>
            </a:r>
            <a:endParaRPr lang="en-US" sz="1600" dirty="0"/>
          </a:p>
          <a:p>
            <a:pPr algn="l"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Whole-route reservation: </a:t>
            </a:r>
            <a:pPr algn="l" indent="0" marL="0">
              <a:spcAft>
                <a:spcPts val="1400"/>
              </a:spcAft>
              <a:buNone/>
            </a:pP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winner books its route as time windows on junctions and aisles, and shares that plan with its peers.</a:t>
            </a:r>
            <a:endParaRPr lang="en-US" sz="1600" dirty="0"/>
          </a:p>
          <a:p>
            <a:pPr algn="l"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Peer-to-peer mesh: </a:t>
            </a:r>
            <a:pPr algn="l" indent="0" marL="0">
              <a:spcAft>
                <a:spcPts val="1400"/>
              </a:spcAft>
              <a:buNone/>
            </a:pP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robots talk directly over ESP-NOW radio, with no access point or server in between.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046720" y="960120"/>
            <a:ext cx="3749040" cy="5669280"/>
          </a:xfrm>
          <a:prstGeom prst="roundRect">
            <a:avLst>
              <a:gd name="adj" fmla="val 4878"/>
            </a:avLst>
          </a:prstGeom>
          <a:solidFill>
            <a:srgbClr val="FFFFFF">
              <a:alpha val="85000"/>
            </a:srgbClr>
          </a:solidFill>
          <a:ln w="25400">
            <a:solidFill>
              <a:srgbClr val="1B2A4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046720" y="1069848"/>
            <a:ext cx="374904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A4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INNOVATION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8183880" y="1645920"/>
            <a:ext cx="3474720" cy="4846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right of way: </a:t>
            </a:r>
            <a:pPr algn="l" indent="0" marL="0">
              <a:spcAft>
                <a:spcPts val="1400"/>
              </a:spcAft>
              <a:buNone/>
            </a:pP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robots move in booking order, never by the clock, so two robots can never both claim one junction.</a:t>
            </a:r>
            <a:endParaRPr lang="en-US" sz="1600" dirty="0"/>
          </a:p>
          <a:p>
            <a:pPr algn="l"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by floor design: </a:t>
            </a:r>
            <a:pPr algn="l" indent="0" marL="0">
              <a:spcAft>
                <a:spcPts val="1400"/>
              </a:spcAft>
              <a:buNone/>
            </a:pP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one-way single-lane aisles and dead-end station spurs make head-on meetings impossible.</a:t>
            </a:r>
            <a:endParaRPr lang="en-US" sz="1600" dirty="0"/>
          </a:p>
          <a:p>
            <a:pPr algn="l"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Self-healing: </a:t>
            </a:r>
            <a:pPr algn="l" indent="0" marL="0">
              <a:spcAft>
                <a:spcPts val="1400"/>
              </a:spcAft>
              <a:buNone/>
            </a:pP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messages, duplicate claims and dropped robots are repaired from the 5-per-second heartbeat.</a:t>
            </a:r>
            <a:endParaRPr lang="en-US" sz="1600" dirty="0"/>
          </a:p>
          <a:p>
            <a:pPr algn="l"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is optional: </a:t>
            </a:r>
            <a:pPr algn="l" indent="0" marL="0">
              <a:spcAft>
                <a:spcPts val="1400"/>
              </a:spcAft>
              <a:buNone/>
            </a:pP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order gateway and dashboard hold no fleet state; the fleet finishes its held work with both switched off.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74320" y="182880"/>
            <a:ext cx="1828800" cy="548640"/>
          </a:xfrm>
          <a:prstGeom prst="rect">
            <a:avLst/>
          </a:prstGeom>
          <a:noFill/>
          <a:ln w="19050">
            <a:solidFill>
              <a:srgbClr val="1B2A41"/>
            </a:solidFill>
            <a:prstDash val="dash"/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A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NAME / LOGO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9418320" y="182880"/>
            <a:ext cx="2514600" cy="548640"/>
          </a:xfrm>
          <a:prstGeom prst="rect">
            <a:avLst/>
          </a:prstGeom>
          <a:noFill/>
          <a:ln w="19050">
            <a:solidFill>
              <a:srgbClr val="1B2A41"/>
            </a:solidFill>
            <a:prstDash val="dash"/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A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MINISTRY + SIH 2026 LOGOS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2286000" y="137160"/>
            <a:ext cx="704088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TECHNICAL APPROACH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274320" y="1005840"/>
            <a:ext cx="1600200" cy="566928"/>
          </a:xfrm>
          <a:prstGeom prst="ellipse">
            <a:avLst/>
          </a:prstGeom>
          <a:solidFill>
            <a:srgbClr val="FFE7A8"/>
          </a:solidFill>
          <a:ln w="22225">
            <a:solidFill>
              <a:srgbClr val="B8860B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74320" y="1783080"/>
            <a:ext cx="1600200" cy="685800"/>
          </a:xfrm>
          <a:prstGeom prst="ellipse">
            <a:avLst/>
          </a:prstGeom>
          <a:solidFill>
            <a:srgbClr val="FFE7A8"/>
          </a:solidFill>
          <a:ln w="22225">
            <a:solidFill>
              <a:srgbClr val="B8860B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874520" y="1289304"/>
            <a:ext cx="155448" cy="0"/>
          </a:xfrm>
          <a:prstGeom prst="line">
            <a:avLst/>
          </a:prstGeom>
          <a:noFill/>
          <a:ln w="25400">
            <a:solidFill>
              <a:srgbClr val="1B2A4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874520" y="2121408"/>
            <a:ext cx="155448" cy="0"/>
          </a:xfrm>
          <a:prstGeom prst="line">
            <a:avLst/>
          </a:prstGeom>
          <a:noFill/>
          <a:ln w="25400">
            <a:solidFill>
              <a:srgbClr val="1B2A4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29968" y="1289304"/>
            <a:ext cx="0" cy="832104"/>
          </a:xfrm>
          <a:prstGeom prst="line">
            <a:avLst/>
          </a:prstGeom>
          <a:noFill/>
          <a:ln w="25400">
            <a:solidFill>
              <a:srgbClr val="1B2A4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029968" y="1783080"/>
            <a:ext cx="182880" cy="0"/>
          </a:xfrm>
          <a:prstGeom prst="line">
            <a:avLst/>
          </a:prstGeom>
          <a:noFill/>
          <a:ln w="25400">
            <a:solidFill>
              <a:srgbClr val="1B2A41"/>
            </a:solidFill>
            <a:prstDash val="solid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2212848" y="1371600"/>
            <a:ext cx="1783080" cy="822960"/>
          </a:xfrm>
          <a:prstGeom prst="roundRect">
            <a:avLst>
              <a:gd name="adj" fmla="val 8889"/>
            </a:avLst>
          </a:prstGeom>
          <a:solidFill>
            <a:srgbClr val="D4E6F7"/>
          </a:solidFill>
          <a:ln w="22225">
            <a:solidFill>
              <a:srgbClr val="2E5C8A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ANNOUNCEMENT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995928" y="1783080"/>
            <a:ext cx="164592" cy="0"/>
          </a:xfrm>
          <a:prstGeom prst="line">
            <a:avLst/>
          </a:prstGeom>
          <a:noFill/>
          <a:ln w="25400">
            <a:solidFill>
              <a:srgbClr val="1B2A41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160520" y="1024128"/>
            <a:ext cx="457200" cy="4572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B2A41"/>
            </a:solidFill>
            <a:prstDash val="solid"/>
          </a:ln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1104" y="1115568"/>
            <a:ext cx="256032" cy="256032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4160520" y="1554480"/>
            <a:ext cx="457200" cy="4572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B2A41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1104" y="1645920"/>
            <a:ext cx="256032" cy="256032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4160520" y="2084832"/>
            <a:ext cx="457200" cy="4572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B2A41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61104" y="2176272"/>
            <a:ext cx="256032" cy="256032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4663440" y="1024128"/>
            <a:ext cx="137160" cy="1517904"/>
          </a:xfrm>
          <a:prstGeom prst="rightBrace">
            <a:avLst/>
          </a:prstGeom>
          <a:noFill/>
          <a:ln w="22225">
            <a:solidFill>
              <a:srgbClr val="1B2A41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4828032" y="1783080"/>
            <a:ext cx="201168" cy="0"/>
          </a:xfrm>
          <a:prstGeom prst="line">
            <a:avLst/>
          </a:prstGeom>
          <a:noFill/>
          <a:ln w="25400">
            <a:solidFill>
              <a:srgbClr val="1B2A41"/>
            </a:solidFill>
            <a:prstDash val="solid"/>
            <a:tailEnd type="triangle"/>
          </a:ln>
        </p:spPr>
      </p:sp>
      <p:sp>
        <p:nvSpPr>
          <p:cNvPr id="21" name="Text 16"/>
          <p:cNvSpPr/>
          <p:nvPr/>
        </p:nvSpPr>
        <p:spPr>
          <a:xfrm>
            <a:off x="5029200" y="1371600"/>
            <a:ext cx="1371600" cy="822960"/>
          </a:xfrm>
          <a:prstGeom prst="roundRect">
            <a:avLst>
              <a:gd name="adj" fmla="val 8889"/>
            </a:avLst>
          </a:prstGeom>
          <a:solidFill>
            <a:srgbClr val="D4E6F7"/>
          </a:solidFill>
          <a:ln w="22225">
            <a:solidFill>
              <a:srgbClr val="2E5C8A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BIDDING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6419088" y="1097280"/>
            <a:ext cx="822960" cy="329184"/>
          </a:xfrm>
          <a:prstGeom prst="roundRect">
            <a:avLst>
              <a:gd name="adj" fmla="val 16667"/>
            </a:avLst>
          </a:prstGeom>
          <a:solidFill>
            <a:srgbClr val="111111"/>
          </a:solidFill>
          <a:ln w="12700">
            <a:solidFill>
              <a:srgbClr val="111111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D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WINNER</a:t>
            </a:r>
            <a:endParaRPr lang="en-US" sz="1300" dirty="0"/>
          </a:p>
        </p:txBody>
      </p:sp>
      <p:sp>
        <p:nvSpPr>
          <p:cNvPr id="23" name="Shape 18"/>
          <p:cNvSpPr/>
          <p:nvPr/>
        </p:nvSpPr>
        <p:spPr>
          <a:xfrm>
            <a:off x="6400800" y="1783080"/>
            <a:ext cx="502920" cy="0"/>
          </a:xfrm>
          <a:prstGeom prst="line">
            <a:avLst/>
          </a:prstGeom>
          <a:noFill/>
          <a:ln w="25400">
            <a:solidFill>
              <a:srgbClr val="1B2A41"/>
            </a:solidFill>
            <a:prstDash val="solid"/>
            <a:tailEnd type="triangle"/>
          </a:ln>
        </p:spPr>
      </p:sp>
      <p:sp>
        <p:nvSpPr>
          <p:cNvPr id="24" name="Text 19"/>
          <p:cNvSpPr/>
          <p:nvPr/>
        </p:nvSpPr>
        <p:spPr>
          <a:xfrm>
            <a:off x="6903720" y="1188720"/>
            <a:ext cx="1691640" cy="1188720"/>
          </a:xfrm>
          <a:prstGeom prst="rightArrow">
            <a:avLst/>
          </a:prstGeom>
          <a:solidFill>
            <a:srgbClr val="FFFFFF"/>
          </a:solidFill>
          <a:ln w="22225">
            <a:solidFill>
              <a:srgbClr val="1B2A41"/>
            </a:solidFill>
          </a:ln>
        </p:spPr>
        <p:txBody>
          <a:bodyPr wrap="square" lIns="0" tIns="0" rIns="22860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ALLOCATION</a:t>
            </a:r>
            <a:endParaRPr lang="en-US" sz="1400" dirty="0"/>
          </a:p>
        </p:txBody>
      </p:sp>
      <p:sp>
        <p:nvSpPr>
          <p:cNvPr id="25" name="Shape 20"/>
          <p:cNvSpPr/>
          <p:nvPr/>
        </p:nvSpPr>
        <p:spPr>
          <a:xfrm>
            <a:off x="8595360" y="1783080"/>
            <a:ext cx="228600" cy="0"/>
          </a:xfrm>
          <a:prstGeom prst="line">
            <a:avLst/>
          </a:prstGeom>
          <a:noFill/>
          <a:ln w="25400">
            <a:solidFill>
              <a:srgbClr val="1B2A41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8823960" y="1783080"/>
            <a:ext cx="0" cy="914400"/>
          </a:xfrm>
          <a:prstGeom prst="line">
            <a:avLst/>
          </a:prstGeom>
          <a:noFill/>
          <a:ln w="25400">
            <a:solidFill>
              <a:srgbClr val="1B2A41"/>
            </a:solidFill>
            <a:prstDash val="solid"/>
            <a:tailEnd type="triangle"/>
          </a:ln>
        </p:spPr>
      </p:sp>
      <p:sp>
        <p:nvSpPr>
          <p:cNvPr id="27" name="Shape 22"/>
          <p:cNvSpPr/>
          <p:nvPr/>
        </p:nvSpPr>
        <p:spPr>
          <a:xfrm>
            <a:off x="2743200" y="2697480"/>
            <a:ext cx="6309360" cy="1737360"/>
          </a:xfrm>
          <a:prstGeom prst="roundRect">
            <a:avLst>
              <a:gd name="adj" fmla="val 6316"/>
            </a:avLst>
          </a:prstGeom>
          <a:solidFill>
            <a:srgbClr val="FFFFFF">
              <a:alpha val="75000"/>
            </a:srgbClr>
          </a:solidFill>
          <a:ln w="25400">
            <a:solidFill>
              <a:srgbClr val="1B2A41"/>
            </a:solidFill>
            <a:prstDash val="dash"/>
          </a:ln>
        </p:spPr>
      </p:sp>
      <p:sp>
        <p:nvSpPr>
          <p:cNvPr id="28" name="Text 23"/>
          <p:cNvSpPr txBox="1"/>
          <p:nvPr/>
        </p:nvSpPr>
        <p:spPr>
          <a:xfrm>
            <a:off x="2880360" y="2724912"/>
            <a:ext cx="457200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200" b="1" spc="100" kern="0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EVERY ROBOT  ·  NO CENTRAL PLANNER</a:t>
            </a:r>
            <a:endParaRPr lang="en-US" sz="1200" dirty="0"/>
          </a:p>
        </p:txBody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07308" y="2999232"/>
            <a:ext cx="512064" cy="512064"/>
          </a:xfrm>
          <a:prstGeom prst="rect">
            <a:avLst/>
          </a:prstGeom>
        </p:spPr>
      </p:pic>
      <p:sp>
        <p:nvSpPr>
          <p:cNvPr id="30" name="Text 24"/>
          <p:cNvSpPr txBox="1"/>
          <p:nvPr/>
        </p:nvSpPr>
        <p:spPr>
          <a:xfrm>
            <a:off x="2834640" y="3529584"/>
            <a:ext cx="2057400" cy="292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SENSE</a:t>
            </a:r>
            <a:endParaRPr lang="en-US" sz="1600" dirty="0"/>
          </a:p>
        </p:txBody>
      </p:sp>
      <p:sp>
        <p:nvSpPr>
          <p:cNvPr id="31" name="Text 25"/>
          <p:cNvSpPr txBox="1"/>
          <p:nvPr/>
        </p:nvSpPr>
        <p:spPr>
          <a:xfrm>
            <a:off x="2834640" y="3813048"/>
            <a:ext cx="205740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A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 · Obstacles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2A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· Map</a:t>
            </a:r>
            <a:endParaRPr lang="en-US" sz="1300" dirty="0"/>
          </a:p>
        </p:txBody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64708" y="2999232"/>
            <a:ext cx="512064" cy="512064"/>
          </a:xfrm>
          <a:prstGeom prst="rect">
            <a:avLst/>
          </a:prstGeom>
        </p:spPr>
      </p:pic>
      <p:sp>
        <p:nvSpPr>
          <p:cNvPr id="33" name="Text 26"/>
          <p:cNvSpPr txBox="1"/>
          <p:nvPr/>
        </p:nvSpPr>
        <p:spPr>
          <a:xfrm>
            <a:off x="4892040" y="3529584"/>
            <a:ext cx="2057400" cy="292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(P2P)</a:t>
            </a:r>
            <a:endParaRPr lang="en-US" sz="1600" dirty="0"/>
          </a:p>
        </p:txBody>
      </p:sp>
      <p:sp>
        <p:nvSpPr>
          <p:cNvPr id="34" name="Text 27"/>
          <p:cNvSpPr txBox="1"/>
          <p:nvPr/>
        </p:nvSpPr>
        <p:spPr>
          <a:xfrm>
            <a:off x="4892040" y="3813048"/>
            <a:ext cx="205740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A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· Route · ETA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2A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ESP-NOW, 5× a second</a:t>
            </a:r>
            <a:endParaRPr lang="en-US" sz="1300" dirty="0"/>
          </a:p>
        </p:txBody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22108" y="2999232"/>
            <a:ext cx="512064" cy="512064"/>
          </a:xfrm>
          <a:prstGeom prst="rect">
            <a:avLst/>
          </a:prstGeom>
        </p:spPr>
      </p:pic>
      <p:sp>
        <p:nvSpPr>
          <p:cNvPr id="36" name="Text 28"/>
          <p:cNvSpPr txBox="1"/>
          <p:nvPr/>
        </p:nvSpPr>
        <p:spPr>
          <a:xfrm>
            <a:off x="6949440" y="3529584"/>
            <a:ext cx="2057400" cy="292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ROUTE</a:t>
            </a:r>
            <a:endParaRPr lang="en-US" sz="1600" dirty="0"/>
          </a:p>
        </p:txBody>
      </p:sp>
      <p:sp>
        <p:nvSpPr>
          <p:cNvPr id="37" name="Text 29"/>
          <p:cNvSpPr txBox="1"/>
          <p:nvPr/>
        </p:nvSpPr>
        <p:spPr>
          <a:xfrm>
            <a:off x="6949440" y="3813048"/>
            <a:ext cx="205740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A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Time-window A*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2A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around peers' bookings</a:t>
            </a:r>
            <a:endParaRPr lang="en-US" sz="1300" dirty="0"/>
          </a:p>
        </p:txBody>
      </p:sp>
      <p:sp>
        <p:nvSpPr>
          <p:cNvPr id="38" name="Shape 30"/>
          <p:cNvSpPr/>
          <p:nvPr/>
        </p:nvSpPr>
        <p:spPr>
          <a:xfrm>
            <a:off x="8503920" y="4434840"/>
            <a:ext cx="0" cy="822960"/>
          </a:xfrm>
          <a:prstGeom prst="line">
            <a:avLst/>
          </a:prstGeom>
          <a:noFill/>
          <a:ln w="25400">
            <a:solidFill>
              <a:srgbClr val="1B2A41"/>
            </a:solidFill>
            <a:prstDash val="solid"/>
          </a:ln>
        </p:spPr>
      </p:sp>
      <p:sp>
        <p:nvSpPr>
          <p:cNvPr id="39" name="Shape 31"/>
          <p:cNvSpPr/>
          <p:nvPr/>
        </p:nvSpPr>
        <p:spPr>
          <a:xfrm flipH="1">
            <a:off x="8001000" y="5257800"/>
            <a:ext cx="502920" cy="0"/>
          </a:xfrm>
          <a:prstGeom prst="line">
            <a:avLst/>
          </a:prstGeom>
          <a:noFill/>
          <a:ln w="25400">
            <a:solidFill>
              <a:srgbClr val="1B2A41"/>
            </a:solidFill>
            <a:prstDash val="solid"/>
            <a:tailEnd type="triangle"/>
          </a:ln>
        </p:spPr>
      </p:sp>
      <p:sp>
        <p:nvSpPr>
          <p:cNvPr id="40" name="Text 32"/>
          <p:cNvSpPr/>
          <p:nvPr/>
        </p:nvSpPr>
        <p:spPr>
          <a:xfrm>
            <a:off x="6446520" y="4892040"/>
            <a:ext cx="1554480" cy="731520"/>
          </a:xfrm>
          <a:prstGeom prst="roundRect">
            <a:avLst>
              <a:gd name="adj" fmla="val 10000"/>
            </a:avLst>
          </a:prstGeom>
          <a:solidFill>
            <a:srgbClr val="D4E6F7"/>
          </a:solidFill>
          <a:ln w="22225">
            <a:solidFill>
              <a:srgbClr val="2E5C8A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ROUTE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(time windows)</a:t>
            </a:r>
            <a:endParaRPr lang="en-US" sz="1400" dirty="0"/>
          </a:p>
        </p:txBody>
      </p:sp>
      <p:sp>
        <p:nvSpPr>
          <p:cNvPr id="41" name="Shape 33"/>
          <p:cNvSpPr/>
          <p:nvPr/>
        </p:nvSpPr>
        <p:spPr>
          <a:xfrm flipH="1">
            <a:off x="6053328" y="5257800"/>
            <a:ext cx="393192" cy="0"/>
          </a:xfrm>
          <a:prstGeom prst="line">
            <a:avLst/>
          </a:prstGeom>
          <a:noFill/>
          <a:ln w="25400">
            <a:solidFill>
              <a:srgbClr val="1B2A41"/>
            </a:solidFill>
            <a:prstDash val="solid"/>
            <a:tailEnd type="triangle"/>
          </a:ln>
        </p:spPr>
      </p:sp>
      <p:sp>
        <p:nvSpPr>
          <p:cNvPr id="42" name="Text 34"/>
          <p:cNvSpPr/>
          <p:nvPr/>
        </p:nvSpPr>
        <p:spPr>
          <a:xfrm>
            <a:off x="4206240" y="4617720"/>
            <a:ext cx="1847088" cy="1280160"/>
          </a:xfrm>
          <a:prstGeom prst="diamond">
            <a:avLst/>
          </a:prstGeom>
          <a:solidFill>
            <a:srgbClr val="FFFFFF"/>
          </a:solidFill>
          <a:ln w="22225">
            <a:solidFill>
              <a:srgbClr val="1B2A41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TURN?</a:t>
            </a:r>
            <a:endParaRPr lang="en-US" sz="1500" dirty="0"/>
          </a:p>
        </p:txBody>
      </p:sp>
      <p:sp>
        <p:nvSpPr>
          <p:cNvPr id="43" name="Text 35"/>
          <p:cNvSpPr txBox="1"/>
          <p:nvPr/>
        </p:nvSpPr>
        <p:spPr>
          <a:xfrm>
            <a:off x="4206240" y="5422392"/>
            <a:ext cx="1847088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4A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(booking order)</a:t>
            </a:r>
            <a:endParaRPr lang="en-US" sz="1050" dirty="0"/>
          </a:p>
        </p:txBody>
      </p:sp>
      <p:sp>
        <p:nvSpPr>
          <p:cNvPr id="44" name="Text 36"/>
          <p:cNvSpPr/>
          <p:nvPr/>
        </p:nvSpPr>
        <p:spPr>
          <a:xfrm>
            <a:off x="3803904" y="4791456"/>
            <a:ext cx="475488" cy="329184"/>
          </a:xfrm>
          <a:prstGeom prst="roundRect">
            <a:avLst>
              <a:gd name="adj" fmla="val 16667"/>
            </a:avLst>
          </a:prstGeom>
          <a:solidFill>
            <a:srgbClr val="1E8C4E"/>
          </a:solidFill>
          <a:ln w="12700">
            <a:solidFill>
              <a:srgbClr val="1E8C4E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300" dirty="0"/>
          </a:p>
        </p:txBody>
      </p:sp>
      <p:sp>
        <p:nvSpPr>
          <p:cNvPr id="45" name="Shape 37"/>
          <p:cNvSpPr/>
          <p:nvPr/>
        </p:nvSpPr>
        <p:spPr>
          <a:xfrm flipH="1">
            <a:off x="3749040" y="5257800"/>
            <a:ext cx="457200" cy="0"/>
          </a:xfrm>
          <a:prstGeom prst="line">
            <a:avLst/>
          </a:prstGeom>
          <a:noFill/>
          <a:ln w="25400">
            <a:solidFill>
              <a:srgbClr val="1E8C4E"/>
            </a:solidFill>
            <a:prstDash val="solid"/>
            <a:tailEnd type="triangle"/>
          </a:ln>
        </p:spPr>
      </p:sp>
      <p:sp>
        <p:nvSpPr>
          <p:cNvPr id="46" name="Text 38"/>
          <p:cNvSpPr/>
          <p:nvPr/>
        </p:nvSpPr>
        <p:spPr>
          <a:xfrm>
            <a:off x="2194560" y="4892040"/>
            <a:ext cx="1554480" cy="731520"/>
          </a:xfrm>
          <a:prstGeom prst="roundRect">
            <a:avLst>
              <a:gd name="adj" fmla="val 10000"/>
            </a:avLst>
          </a:prstGeom>
          <a:solidFill>
            <a:srgbClr val="D4E6F7"/>
          </a:solidFill>
          <a:ln w="22225">
            <a:solidFill>
              <a:srgbClr val="2E5C8A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 &amp;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</a:t>
            </a:r>
            <a:endParaRPr lang="en-US" sz="1500" dirty="0"/>
          </a:p>
        </p:txBody>
      </p:sp>
      <p:sp>
        <p:nvSpPr>
          <p:cNvPr id="47" name="Shape 39"/>
          <p:cNvSpPr/>
          <p:nvPr/>
        </p:nvSpPr>
        <p:spPr>
          <a:xfrm flipH="1">
            <a:off x="1938528" y="5257800"/>
            <a:ext cx="256032" cy="0"/>
          </a:xfrm>
          <a:prstGeom prst="line">
            <a:avLst/>
          </a:prstGeom>
          <a:noFill/>
          <a:ln w="25400">
            <a:solidFill>
              <a:srgbClr val="1B2A41"/>
            </a:solidFill>
            <a:prstDash val="solid"/>
            <a:tailEnd type="triangle"/>
          </a:ln>
        </p:spPr>
      </p:sp>
      <p:sp>
        <p:nvSpPr>
          <p:cNvPr id="48" name="Text 40"/>
          <p:cNvSpPr/>
          <p:nvPr/>
        </p:nvSpPr>
        <p:spPr>
          <a:xfrm>
            <a:off x="274320" y="4892040"/>
            <a:ext cx="1664208" cy="731520"/>
          </a:xfrm>
          <a:prstGeom prst="ellipse">
            <a:avLst/>
          </a:prstGeom>
          <a:solidFill>
            <a:srgbClr val="E6F5EC"/>
          </a:solidFill>
          <a:ln w="22225">
            <a:solidFill>
              <a:srgbClr val="1E8C4E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1400" dirty="0"/>
          </a:p>
        </p:txBody>
      </p:sp>
      <p:sp>
        <p:nvSpPr>
          <p:cNvPr id="49" name="Shape 41"/>
          <p:cNvSpPr/>
          <p:nvPr/>
        </p:nvSpPr>
        <p:spPr>
          <a:xfrm>
            <a:off x="5129784" y="5897880"/>
            <a:ext cx="0" cy="320040"/>
          </a:xfrm>
          <a:prstGeom prst="line">
            <a:avLst/>
          </a:prstGeom>
          <a:noFill/>
          <a:ln w="25400">
            <a:solidFill>
              <a:srgbClr val="D93A2B"/>
            </a:solidFill>
            <a:prstDash val="solid"/>
          </a:ln>
        </p:spPr>
      </p:sp>
      <p:sp>
        <p:nvSpPr>
          <p:cNvPr id="50" name="Shape 42"/>
          <p:cNvSpPr/>
          <p:nvPr/>
        </p:nvSpPr>
        <p:spPr>
          <a:xfrm>
            <a:off x="5129784" y="6217920"/>
            <a:ext cx="2093976" cy="0"/>
          </a:xfrm>
          <a:prstGeom prst="line">
            <a:avLst/>
          </a:prstGeom>
          <a:noFill/>
          <a:ln w="25400">
            <a:solidFill>
              <a:srgbClr val="D93A2B"/>
            </a:solidFill>
            <a:prstDash val="solid"/>
          </a:ln>
        </p:spPr>
      </p:sp>
      <p:sp>
        <p:nvSpPr>
          <p:cNvPr id="51" name="Shape 43"/>
          <p:cNvSpPr/>
          <p:nvPr/>
        </p:nvSpPr>
        <p:spPr>
          <a:xfrm flipV="1">
            <a:off x="7223760" y="5623560"/>
            <a:ext cx="0" cy="594360"/>
          </a:xfrm>
          <a:prstGeom prst="line">
            <a:avLst/>
          </a:prstGeom>
          <a:noFill/>
          <a:ln w="25400">
            <a:solidFill>
              <a:srgbClr val="D93A2B"/>
            </a:solidFill>
            <a:prstDash val="solid"/>
            <a:tailEnd type="triangle"/>
          </a:ln>
        </p:spPr>
      </p:sp>
      <p:sp>
        <p:nvSpPr>
          <p:cNvPr id="52" name="Text 44"/>
          <p:cNvSpPr/>
          <p:nvPr/>
        </p:nvSpPr>
        <p:spPr>
          <a:xfrm>
            <a:off x="5532120" y="6053328"/>
            <a:ext cx="502920" cy="329184"/>
          </a:xfrm>
          <a:prstGeom prst="roundRect">
            <a:avLst>
              <a:gd name="adj" fmla="val 16667"/>
            </a:avLst>
          </a:prstGeom>
          <a:solidFill>
            <a:srgbClr val="D93A2B"/>
          </a:solidFill>
          <a:ln w="12700">
            <a:solidFill>
              <a:srgbClr val="D93A2B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300" dirty="0"/>
          </a:p>
        </p:txBody>
      </p:sp>
      <p:sp>
        <p:nvSpPr>
          <p:cNvPr id="53" name="Text 45"/>
          <p:cNvSpPr txBox="1"/>
          <p:nvPr/>
        </p:nvSpPr>
        <p:spPr>
          <a:xfrm>
            <a:off x="6080760" y="6263640"/>
            <a:ext cx="210312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D9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 for turn / replan</a:t>
            </a:r>
            <a:endParaRPr lang="en-US" sz="1200" dirty="0"/>
          </a:p>
        </p:txBody>
      </p:sp>
      <p:sp>
        <p:nvSpPr>
          <p:cNvPr id="54" name="Text 46"/>
          <p:cNvSpPr txBox="1"/>
          <p:nvPr/>
        </p:nvSpPr>
        <p:spPr>
          <a:xfrm>
            <a:off x="274320" y="2523744"/>
            <a:ext cx="2194560" cy="2377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5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 DASHBOARD</a:t>
            </a:r>
            <a:endParaRPr lang="en-US" sz="1200" dirty="0"/>
          </a:p>
        </p:txBody>
      </p:sp>
      <p:sp>
        <p:nvSpPr>
          <p:cNvPr id="55" name="Shape 47"/>
          <p:cNvSpPr/>
          <p:nvPr/>
        </p:nvSpPr>
        <p:spPr>
          <a:xfrm>
            <a:off x="274320" y="2770632"/>
            <a:ext cx="2194560" cy="1371600"/>
          </a:xfrm>
          <a:prstGeom prst="rect">
            <a:avLst/>
          </a:prstGeom>
          <a:solidFill>
            <a:srgbClr val="FFFFFF"/>
          </a:solidFill>
          <a:ln w="31750">
            <a:solidFill>
              <a:srgbClr val="1B2A41"/>
            </a:solidFill>
            <a:prstDash val="solid"/>
          </a:ln>
        </p:spPr>
      </p:sp>
      <p:sp>
        <p:nvSpPr>
          <p:cNvPr id="56" name="Text 48"/>
          <p:cNvSpPr/>
          <p:nvPr/>
        </p:nvSpPr>
        <p:spPr>
          <a:xfrm>
            <a:off x="365760" y="2852928"/>
            <a:ext cx="978408" cy="566928"/>
          </a:xfrm>
          <a:prstGeom prst="roundRect">
            <a:avLst>
              <a:gd name="adj" fmla="val 12903"/>
            </a:avLst>
          </a:prstGeom>
          <a:solidFill>
            <a:srgbClr val="EAF1F8"/>
          </a:solidFill>
          <a:ln w="12700">
            <a:solidFill>
              <a:srgbClr val="1B2A41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</a:t>
            </a:r>
            <a:endParaRPr lang="en-US" sz="1150" dirty="0"/>
          </a:p>
        </p:txBody>
      </p:sp>
      <p:sp>
        <p:nvSpPr>
          <p:cNvPr id="57" name="Text 49"/>
          <p:cNvSpPr/>
          <p:nvPr/>
        </p:nvSpPr>
        <p:spPr>
          <a:xfrm>
            <a:off x="1399032" y="2852928"/>
            <a:ext cx="978408" cy="566928"/>
          </a:xfrm>
          <a:prstGeom prst="roundRect">
            <a:avLst>
              <a:gd name="adj" fmla="val 12903"/>
            </a:avLst>
          </a:prstGeom>
          <a:solidFill>
            <a:srgbClr val="EAF1F8"/>
          </a:solidFill>
          <a:ln w="12700">
            <a:solidFill>
              <a:srgbClr val="1B2A41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</a:t>
            </a:r>
            <a:endParaRPr lang="en-US" sz="1150" dirty="0"/>
          </a:p>
        </p:txBody>
      </p:sp>
      <p:sp>
        <p:nvSpPr>
          <p:cNvPr id="58" name="Text 50"/>
          <p:cNvSpPr/>
          <p:nvPr/>
        </p:nvSpPr>
        <p:spPr>
          <a:xfrm>
            <a:off x="365760" y="3493008"/>
            <a:ext cx="978408" cy="566928"/>
          </a:xfrm>
          <a:prstGeom prst="roundRect">
            <a:avLst>
              <a:gd name="adj" fmla="val 12903"/>
            </a:avLst>
          </a:prstGeom>
          <a:solidFill>
            <a:srgbClr val="EAF1F8"/>
          </a:solidFill>
          <a:ln w="12700">
            <a:solidFill>
              <a:srgbClr val="1B2A41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150" dirty="0"/>
          </a:p>
        </p:txBody>
      </p:sp>
      <p:sp>
        <p:nvSpPr>
          <p:cNvPr id="59" name="Text 51"/>
          <p:cNvSpPr/>
          <p:nvPr/>
        </p:nvSpPr>
        <p:spPr>
          <a:xfrm>
            <a:off x="1399032" y="3493008"/>
            <a:ext cx="978408" cy="566928"/>
          </a:xfrm>
          <a:prstGeom prst="roundRect">
            <a:avLst>
              <a:gd name="adj" fmla="val 12903"/>
            </a:avLst>
          </a:prstGeom>
          <a:solidFill>
            <a:srgbClr val="EAF1F8"/>
          </a:solidFill>
          <a:ln w="12700">
            <a:solidFill>
              <a:srgbClr val="1B2A41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</a:t>
            </a:r>
            <a:endParaRPr lang="en-US" sz="1150" dirty="0"/>
          </a:p>
        </p:txBody>
      </p:sp>
      <p:sp>
        <p:nvSpPr>
          <p:cNvPr id="60" name="Shape 52"/>
          <p:cNvSpPr/>
          <p:nvPr/>
        </p:nvSpPr>
        <p:spPr>
          <a:xfrm>
            <a:off x="1234440" y="4142232"/>
            <a:ext cx="274320" cy="182880"/>
          </a:xfrm>
          <a:prstGeom prst="rect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61" name="Shape 53"/>
          <p:cNvSpPr/>
          <p:nvPr/>
        </p:nvSpPr>
        <p:spPr>
          <a:xfrm>
            <a:off x="822960" y="4325112"/>
            <a:ext cx="1097280" cy="118872"/>
          </a:xfrm>
          <a:prstGeom prst="rect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62" name="Shape 54"/>
          <p:cNvSpPr/>
          <p:nvPr/>
        </p:nvSpPr>
        <p:spPr>
          <a:xfrm flipV="1">
            <a:off x="1106424" y="4462272"/>
            <a:ext cx="0" cy="429768"/>
          </a:xfrm>
          <a:prstGeom prst="line">
            <a:avLst/>
          </a:prstGeom>
          <a:noFill/>
          <a:ln w="25400">
            <a:solidFill>
              <a:srgbClr val="1B2A41"/>
            </a:solidFill>
            <a:prstDash val="solid"/>
            <a:tailEnd type="triangle"/>
          </a:ln>
        </p:spPr>
      </p:sp>
      <p:sp>
        <p:nvSpPr>
          <p:cNvPr id="63" name="Text 55"/>
          <p:cNvSpPr txBox="1"/>
          <p:nvPr/>
        </p:nvSpPr>
        <p:spPr>
          <a:xfrm>
            <a:off x="274320" y="6144768"/>
            <a:ext cx="384048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8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Tested: 0 collisions  ·  120 / 120 tasks at 30 AMRs</a:t>
            </a:r>
            <a:endParaRPr lang="en-US" sz="1300" dirty="0"/>
          </a:p>
        </p:txBody>
      </p:sp>
      <p:sp>
        <p:nvSpPr>
          <p:cNvPr id="64" name="Shape 56"/>
          <p:cNvSpPr/>
          <p:nvPr/>
        </p:nvSpPr>
        <p:spPr>
          <a:xfrm>
            <a:off x="9281160" y="1005840"/>
            <a:ext cx="2651760" cy="3383280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25400">
            <a:solidFill>
              <a:srgbClr val="1B2A41"/>
            </a:solidFill>
            <a:prstDash val="solid"/>
          </a:ln>
        </p:spPr>
      </p:sp>
      <p:sp>
        <p:nvSpPr>
          <p:cNvPr id="65" name="Text 57"/>
          <p:cNvSpPr txBox="1"/>
          <p:nvPr/>
        </p:nvSpPr>
        <p:spPr>
          <a:xfrm>
            <a:off x="9281160" y="1042416"/>
            <a:ext cx="265176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B2A4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TECH STACK</a:t>
            </a:r>
            <a:endParaRPr lang="en-US" sz="1900" dirty="0"/>
          </a:p>
        </p:txBody>
      </p:sp>
      <p:sp>
        <p:nvSpPr>
          <p:cNvPr id="66" name="Text 58"/>
          <p:cNvSpPr txBox="1"/>
          <p:nvPr/>
        </p:nvSpPr>
        <p:spPr>
          <a:xfrm>
            <a:off x="9281160" y="1444752"/>
            <a:ext cx="2651760" cy="2194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A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 (EDGE)</a:t>
            </a:r>
            <a:endParaRPr lang="en-US" sz="1050" dirty="0"/>
          </a:p>
        </p:txBody>
      </p:sp>
      <p:pic>
        <p:nvPicPr>
          <p:cNvPr id="67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06940" y="1691640"/>
            <a:ext cx="365760" cy="365760"/>
          </a:xfrm>
          <a:prstGeom prst="rect">
            <a:avLst/>
          </a:prstGeom>
        </p:spPr>
      </p:pic>
      <p:sp>
        <p:nvSpPr>
          <p:cNvPr id="68" name="Text 59"/>
          <p:cNvSpPr txBox="1"/>
          <p:nvPr/>
        </p:nvSpPr>
        <p:spPr>
          <a:xfrm>
            <a:off x="9372600" y="2066544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050" dirty="0"/>
          </a:p>
        </p:txBody>
      </p:sp>
      <p:pic>
        <p:nvPicPr>
          <p:cNvPr id="69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041380" y="1691640"/>
            <a:ext cx="365760" cy="365760"/>
          </a:xfrm>
          <a:prstGeom prst="rect">
            <a:avLst/>
          </a:prstGeom>
        </p:spPr>
      </p:pic>
      <p:sp>
        <p:nvSpPr>
          <p:cNvPr id="70" name="Text 60"/>
          <p:cNvSpPr txBox="1"/>
          <p:nvPr/>
        </p:nvSpPr>
        <p:spPr>
          <a:xfrm>
            <a:off x="10607040" y="2066544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· ESP-NOW</a:t>
            </a:r>
            <a:endParaRPr lang="en-US" sz="1050" dirty="0"/>
          </a:p>
        </p:txBody>
      </p:sp>
      <p:sp>
        <p:nvSpPr>
          <p:cNvPr id="71" name="Shape 61"/>
          <p:cNvSpPr/>
          <p:nvPr/>
        </p:nvSpPr>
        <p:spPr>
          <a:xfrm>
            <a:off x="9464040" y="2313432"/>
            <a:ext cx="2286000" cy="0"/>
          </a:xfrm>
          <a:prstGeom prst="line">
            <a:avLst/>
          </a:prstGeom>
          <a:noFill/>
          <a:ln w="12700">
            <a:solidFill>
              <a:srgbClr val="B9C3CF"/>
            </a:solidFill>
            <a:prstDash val="solid"/>
          </a:ln>
        </p:spPr>
      </p:sp>
      <p:sp>
        <p:nvSpPr>
          <p:cNvPr id="72" name="Text 62"/>
          <p:cNvSpPr txBox="1"/>
          <p:nvPr/>
        </p:nvSpPr>
        <p:spPr>
          <a:xfrm>
            <a:off x="9281160" y="2377440"/>
            <a:ext cx="2651760" cy="2194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A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&amp; DASHBOARD</a:t>
            </a:r>
            <a:endParaRPr lang="en-US" sz="1050" dirty="0"/>
          </a:p>
        </p:txBody>
      </p:sp>
      <p:pic>
        <p:nvPicPr>
          <p:cNvPr id="73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601200" y="2624328"/>
            <a:ext cx="365760" cy="365760"/>
          </a:xfrm>
          <a:prstGeom prst="rect">
            <a:avLst/>
          </a:prstGeom>
        </p:spPr>
      </p:pic>
      <p:sp>
        <p:nvSpPr>
          <p:cNvPr id="74" name="Text 63"/>
          <p:cNvSpPr txBox="1"/>
          <p:nvPr/>
        </p:nvSpPr>
        <p:spPr>
          <a:xfrm>
            <a:off x="9372600" y="299923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050" dirty="0"/>
          </a:p>
        </p:txBody>
      </p:sp>
      <p:pic>
        <p:nvPicPr>
          <p:cNvPr id="75" name="Image 9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424160" y="2624328"/>
            <a:ext cx="365760" cy="365760"/>
          </a:xfrm>
          <a:prstGeom prst="rect">
            <a:avLst/>
          </a:prstGeom>
        </p:spPr>
      </p:pic>
      <p:sp>
        <p:nvSpPr>
          <p:cNvPr id="76" name="Text 64"/>
          <p:cNvSpPr txBox="1"/>
          <p:nvPr/>
        </p:nvSpPr>
        <p:spPr>
          <a:xfrm>
            <a:off x="10195560" y="299923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WebSockets</a:t>
            </a:r>
            <a:endParaRPr lang="en-US" sz="1050" dirty="0"/>
          </a:p>
        </p:txBody>
      </p:sp>
      <p:pic>
        <p:nvPicPr>
          <p:cNvPr id="77" name="Image 10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247120" y="2624328"/>
            <a:ext cx="365760" cy="365760"/>
          </a:xfrm>
          <a:prstGeom prst="rect">
            <a:avLst/>
          </a:prstGeom>
        </p:spPr>
      </p:pic>
      <p:sp>
        <p:nvSpPr>
          <p:cNvPr id="78" name="Text 65"/>
          <p:cNvSpPr txBox="1"/>
          <p:nvPr/>
        </p:nvSpPr>
        <p:spPr>
          <a:xfrm>
            <a:off x="11018520" y="299923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1050" dirty="0"/>
          </a:p>
        </p:txBody>
      </p:sp>
      <p:sp>
        <p:nvSpPr>
          <p:cNvPr id="79" name="Shape 66"/>
          <p:cNvSpPr/>
          <p:nvPr/>
        </p:nvSpPr>
        <p:spPr>
          <a:xfrm>
            <a:off x="9464040" y="3246120"/>
            <a:ext cx="2286000" cy="0"/>
          </a:xfrm>
          <a:prstGeom prst="line">
            <a:avLst/>
          </a:prstGeom>
          <a:noFill/>
          <a:ln w="12700">
            <a:solidFill>
              <a:srgbClr val="B9C3CF"/>
            </a:solidFill>
            <a:prstDash val="solid"/>
          </a:ln>
        </p:spPr>
      </p:sp>
      <p:sp>
        <p:nvSpPr>
          <p:cNvPr id="80" name="Text 67"/>
          <p:cNvSpPr txBox="1"/>
          <p:nvPr/>
        </p:nvSpPr>
        <p:spPr>
          <a:xfrm>
            <a:off x="9281160" y="3310128"/>
            <a:ext cx="2651760" cy="2194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A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&amp; TESTING</a:t>
            </a:r>
            <a:endParaRPr lang="en-US" sz="1050" dirty="0"/>
          </a:p>
        </p:txBody>
      </p:sp>
      <p:pic>
        <p:nvPicPr>
          <p:cNvPr id="81" name="Image 11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806940" y="3557016"/>
            <a:ext cx="365760" cy="365760"/>
          </a:xfrm>
          <a:prstGeom prst="rect">
            <a:avLst/>
          </a:prstGeom>
        </p:spPr>
      </p:pic>
      <p:sp>
        <p:nvSpPr>
          <p:cNvPr id="82" name="Text 68"/>
          <p:cNvSpPr txBox="1"/>
          <p:nvPr/>
        </p:nvSpPr>
        <p:spPr>
          <a:xfrm>
            <a:off x="9372600" y="3931920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Webots 3D</a:t>
            </a:r>
            <a:endParaRPr lang="en-US" sz="1050" dirty="0"/>
          </a:p>
        </p:txBody>
      </p:sp>
      <p:pic>
        <p:nvPicPr>
          <p:cNvPr id="83" name="Image 12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1041380" y="3557016"/>
            <a:ext cx="365760" cy="365760"/>
          </a:xfrm>
          <a:prstGeom prst="rect">
            <a:avLst/>
          </a:prstGeom>
        </p:spPr>
      </p:pic>
      <p:sp>
        <p:nvSpPr>
          <p:cNvPr id="84" name="Text 69"/>
          <p:cNvSpPr txBox="1"/>
          <p:nvPr/>
        </p:nvSpPr>
        <p:spPr>
          <a:xfrm>
            <a:off x="10607040" y="3931920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</a:t>
            </a:r>
            <a:endParaRPr lang="en-US" sz="1050" dirty="0"/>
          </a:p>
        </p:txBody>
      </p:sp>
      <p:sp>
        <p:nvSpPr>
          <p:cNvPr id="85" name="Shape 70"/>
          <p:cNvSpPr/>
          <p:nvPr/>
        </p:nvSpPr>
        <p:spPr>
          <a:xfrm>
            <a:off x="9281160" y="4526280"/>
            <a:ext cx="2651760" cy="1481328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9050">
            <a:solidFill>
              <a:srgbClr val="1B2A41"/>
            </a:solidFill>
            <a:prstDash val="solid"/>
          </a:ln>
        </p:spPr>
      </p:sp>
      <p:pic>
        <p:nvPicPr>
          <p:cNvPr id="86" name="Image 13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372600" y="4599432"/>
            <a:ext cx="1463040" cy="1316736"/>
          </a:xfrm>
          <a:prstGeom prst="rect">
            <a:avLst/>
          </a:prstGeom>
        </p:spPr>
      </p:pic>
      <p:sp>
        <p:nvSpPr>
          <p:cNvPr id="87" name="Text 71"/>
          <p:cNvSpPr txBox="1"/>
          <p:nvPr/>
        </p:nvSpPr>
        <p:spPr>
          <a:xfrm>
            <a:off x="10853928" y="4892040"/>
            <a:ext cx="1005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4A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</a:t>
            </a:r>
            <a:endParaRPr lang="en-US" sz="1200" dirty="0"/>
          </a:p>
        </p:txBody>
      </p:sp>
      <p:sp>
        <p:nvSpPr>
          <p:cNvPr id="88" name="Text 72"/>
          <p:cNvSpPr txBox="1"/>
          <p:nvPr/>
        </p:nvSpPr>
        <p:spPr>
          <a:xfrm>
            <a:off x="9281160" y="6080760"/>
            <a:ext cx="265176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Link: </a:t>
            </a:r>
            <a:endParaRPr lang="en-US" sz="14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Link: 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74320" y="182880"/>
            <a:ext cx="1828800" cy="548640"/>
          </a:xfrm>
          <a:prstGeom prst="rect">
            <a:avLst/>
          </a:prstGeom>
          <a:noFill/>
          <a:ln w="19050">
            <a:solidFill>
              <a:srgbClr val="1B2A41"/>
            </a:solidFill>
            <a:prstDash val="dash"/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A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NAME / LOGO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9418320" y="182880"/>
            <a:ext cx="2514600" cy="548640"/>
          </a:xfrm>
          <a:prstGeom prst="rect">
            <a:avLst/>
          </a:prstGeom>
          <a:noFill/>
          <a:ln w="19050">
            <a:solidFill>
              <a:srgbClr val="1B2A41"/>
            </a:solidFill>
            <a:prstDash val="dash"/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A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MINISTRY + SIH 2026 LOGOS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3749040" cy="5760720"/>
          </a:xfrm>
          <a:prstGeom prst="roundRect">
            <a:avLst>
              <a:gd name="adj" fmla="val 4878"/>
            </a:avLst>
          </a:prstGeom>
          <a:solidFill>
            <a:srgbClr val="FFFFFF">
              <a:alpha val="85000"/>
            </a:srgbClr>
          </a:solidFill>
          <a:ln w="25400">
            <a:solidFill>
              <a:srgbClr val="1B2A4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74320" y="1024128"/>
            <a:ext cx="374904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A4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FEASIBILITY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411480" y="1600200"/>
            <a:ext cx="3474720" cy="4937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Low-cost hardware: </a:t>
            </a:r>
            <a:pPr algn="l" indent="0" marL="0">
              <a:spcAft>
                <a:spcPts val="1400"/>
              </a:spcAft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message fits one 250-byte ESP-NOW frame, sized for ESP32-class boards.</a:t>
            </a:r>
            <a:endParaRPr lang="en-US" sz="1400" dirty="0"/>
          </a:p>
          <a:p>
            <a:pPr algn="l"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codebase: </a:t>
            </a:r>
            <a:pPr algn="l" indent="0" marL="0">
              <a:spcAft>
                <a:spcPts val="1400"/>
              </a:spcAft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decision code runs headless, in Webots 3D and on hardware.</a:t>
            </a:r>
            <a:endParaRPr lang="en-US" sz="1400" dirty="0"/>
          </a:p>
          <a:p>
            <a:pPr algn="l"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at scale: </a:t>
            </a:r>
            <a:pPr algn="l" indent="0" marL="0">
              <a:spcAft>
                <a:spcPts val="1400"/>
              </a:spcAft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with 3, 6, 30 and 100 simulated robots.</a:t>
            </a:r>
            <a:endParaRPr lang="en-US" sz="1400" dirty="0"/>
          </a:p>
          <a:p>
            <a:pPr algn="l"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Reproducible: </a:t>
            </a:r>
            <a:pPr algn="l" indent="0" marL="0">
              <a:spcAft>
                <a:spcPts val="1400"/>
              </a:spcAft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run replays exactly from its seed, so any result can be re-checked.</a:t>
            </a:r>
            <a:endParaRPr lang="en-US" sz="1400" dirty="0"/>
          </a:p>
          <a:p>
            <a:pPr algn="l"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Verified: </a:t>
            </a:r>
            <a:pPr algn="l" indent="0" marL="0">
              <a:spcAft>
                <a:spcPts val="1400"/>
              </a:spcAft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600+ automated tests, including rules that keep the design decentralized.</a:t>
            </a:r>
            <a:endParaRPr lang="en-US" sz="1400" dirty="0"/>
          </a:p>
          <a:p>
            <a:pPr algn="l"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licence cost: </a:t>
            </a:r>
            <a:pPr algn="l" indent="0" marL="0">
              <a:spcAft>
                <a:spcPts val="1400"/>
              </a:spcAft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entirely on open-source tools: Python, FastAPI, Webots.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160520" y="914400"/>
            <a:ext cx="3749040" cy="5760720"/>
          </a:xfrm>
          <a:prstGeom prst="roundRect">
            <a:avLst>
              <a:gd name="adj" fmla="val 4878"/>
            </a:avLst>
          </a:prstGeom>
          <a:solidFill>
            <a:srgbClr val="FFFFFF">
              <a:alpha val="85000"/>
            </a:srgbClr>
          </a:solidFill>
          <a:ln w="25400">
            <a:solidFill>
              <a:srgbClr val="1B2A4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160520" y="1024128"/>
            <a:ext cx="374904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A4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CONSTRAINTS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4297680" y="1600200"/>
            <a:ext cx="3474720" cy="4937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Radio loss: </a:t>
            </a:r>
            <a:pPr algn="l" indent="0" marL="0">
              <a:spcAft>
                <a:spcPts val="1400"/>
              </a:spcAft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ESP-NOW frames can drop and are never retransmitted.</a:t>
            </a:r>
            <a:endParaRPr lang="en-US" sz="1400" dirty="0"/>
          </a:p>
          <a:p>
            <a:pPr algn="l"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frames: </a:t>
            </a:r>
            <a:pPr algn="l" indent="0" marL="0">
              <a:spcAft>
                <a:spcPts val="1400"/>
              </a:spcAft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 bytes limits how much of a route one message can carry.</a:t>
            </a:r>
            <a:endParaRPr lang="en-US" sz="1400" dirty="0"/>
          </a:p>
          <a:p>
            <a:pPr algn="l"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Small-fleet speed: </a:t>
            </a:r>
            <a:pPr algn="l" indent="0" marL="0">
              <a:spcAft>
                <a:spcPts val="1400"/>
              </a:spcAft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waiting for booked turns makes 3-6 robot fleets slower than stop-and-wait.</a:t>
            </a:r>
            <a:endParaRPr lang="en-US" sz="1400" dirty="0"/>
          </a:p>
          <a:p>
            <a:pPr algn="l"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at scale: </a:t>
            </a:r>
            <a:pPr algn="l" indent="0" marL="0">
              <a:spcAft>
                <a:spcPts val="1400"/>
              </a:spcAft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100 robots, auction messages could flood the mesh.</a:t>
            </a:r>
            <a:endParaRPr lang="en-US" sz="1400" dirty="0"/>
          </a:p>
          <a:p>
            <a:pPr algn="l"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Uniform fleet: </a:t>
            </a:r>
            <a:pPr algn="l" indent="0" marL="0">
              <a:spcAft>
                <a:spcPts val="1400"/>
              </a:spcAft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robots are assumed to share one size and speed.</a:t>
            </a:r>
            <a:endParaRPr lang="en-US" sz="1400" dirty="0"/>
          </a:p>
          <a:p>
            <a:pPr algn="l"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untested: </a:t>
            </a:r>
            <a:pPr algn="l" indent="0" marL="0">
              <a:spcAft>
                <a:spcPts val="1400"/>
              </a:spcAft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radio range has not yet been measured on real robots.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046720" y="914400"/>
            <a:ext cx="3749040" cy="5760720"/>
          </a:xfrm>
          <a:prstGeom prst="roundRect">
            <a:avLst>
              <a:gd name="adj" fmla="val 4878"/>
            </a:avLst>
          </a:prstGeom>
          <a:solidFill>
            <a:srgbClr val="FFFFFF">
              <a:alpha val="85000"/>
            </a:srgbClr>
          </a:solidFill>
          <a:ln w="25400">
            <a:solidFill>
              <a:srgbClr val="1B2A4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046720" y="1024128"/>
            <a:ext cx="374904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A4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WORKAROUNDS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8183880" y="1600200"/>
            <a:ext cx="3474720" cy="4937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Heartbeat healing: </a:t>
            </a:r>
            <a:pPr algn="l" indent="0" marL="0">
              <a:spcAft>
                <a:spcPts val="1400"/>
              </a:spcAft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robot re-broadcasts its state 5 times a second. At 30% message loss: 0 duplicate deliveries.</a:t>
            </a:r>
            <a:endParaRPr lang="en-US" sz="1400" dirty="0"/>
          </a:p>
          <a:p>
            <a:pPr algn="l"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Compact binary codec: </a:t>
            </a:r>
            <a:pPr algn="l" indent="0" marL="0">
              <a:spcAft>
                <a:spcPts val="1400"/>
              </a:spcAft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are capped at 57 nodes so one plan always fits one frame.</a:t>
            </a:r>
            <a:endParaRPr lang="en-US" sz="1400" dirty="0"/>
          </a:p>
          <a:p>
            <a:pPr algn="l"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Turn-time tuning: </a:t>
            </a:r>
            <a:pPr algn="l" indent="0" marL="0">
              <a:spcAft>
                <a:spcPts val="1400"/>
              </a:spcAft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tighter auction window and a bid filter already cut replanning by 11%.</a:t>
            </a:r>
            <a:endParaRPr lang="en-US" sz="1400" dirty="0"/>
          </a:p>
          <a:p>
            <a:pPr algn="l"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Zoned auctions: </a:t>
            </a:r>
            <a:pPr algn="l" indent="0" marL="0">
              <a:spcAft>
                <a:spcPts val="1400"/>
              </a:spcAft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100-robot floor is split into 24 zones so bidding stays local.</a:t>
            </a:r>
            <a:endParaRPr lang="en-US" sz="1400" dirty="0"/>
          </a:p>
          <a:p>
            <a:pPr algn="l"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 bays: </a:t>
            </a:r>
            <a:pPr algn="l" indent="0" marL="0">
              <a:spcAft>
                <a:spcPts val="1400"/>
              </a:spcAft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idle robots park in dedicated bays, never on an aisle.</a:t>
            </a:r>
            <a:endParaRPr lang="en-US" sz="1400" dirty="0"/>
          </a:p>
          <a:p>
            <a:pPr algn="l"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Staged rollout: </a:t>
            </a:r>
            <a:pPr algn="l" indent="0" marL="0">
              <a:spcAft>
                <a:spcPts val="1400"/>
              </a:spcAft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2-robot ESP32 demonstrator and range test come before any fleet deployment.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74320" y="182880"/>
            <a:ext cx="1828800" cy="548640"/>
          </a:xfrm>
          <a:prstGeom prst="rect">
            <a:avLst/>
          </a:prstGeom>
          <a:noFill/>
          <a:ln w="19050">
            <a:solidFill>
              <a:srgbClr val="1B2A41"/>
            </a:solidFill>
            <a:prstDash val="dash"/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A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NAME / LOGO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9418320" y="182880"/>
            <a:ext cx="2514600" cy="548640"/>
          </a:xfrm>
          <a:prstGeom prst="rect">
            <a:avLst/>
          </a:prstGeom>
          <a:noFill/>
          <a:ln w="19050">
            <a:solidFill>
              <a:srgbClr val="1B2A41"/>
            </a:solidFill>
            <a:prstDash val="dash"/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A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MINISTRY + SIH 2026 LOGOS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11640312" cy="2606040"/>
          </a:xfrm>
          <a:prstGeom prst="roundRect">
            <a:avLst>
              <a:gd name="adj" fmla="val 7018"/>
            </a:avLst>
          </a:prstGeom>
          <a:solidFill>
            <a:srgbClr val="FFFFFF">
              <a:alpha val="85000"/>
            </a:srgbClr>
          </a:solidFill>
          <a:ln w="25400">
            <a:solidFill>
              <a:srgbClr val="1B2A4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754880" y="548640"/>
            <a:ext cx="2697480" cy="566928"/>
          </a:xfrm>
          <a:prstGeom prst="roundRect">
            <a:avLst>
              <a:gd name="adj" fmla="val 32258"/>
            </a:avLst>
          </a:prstGeom>
          <a:solidFill>
            <a:srgbClr val="FFFFFF"/>
          </a:solidFill>
          <a:ln w="25400">
            <a:solidFill>
              <a:srgbClr val="1B2A41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BENEFITS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234440"/>
            <a:ext cx="5577840" cy="2194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point of failure: </a:t>
            </a:r>
            <a:pPr algn="l" indent="0" marL="0">
              <a:spcAft>
                <a:spcPts val="1200"/>
              </a:spcAft>
              <a:buNone/>
            </a:pP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fleet keeps working if the server or Wi-Fi drops.</a:t>
            </a:r>
            <a:endParaRPr lang="en-US" sz="1600" dirty="0"/>
          </a:p>
          <a:p>
            <a:pPr algn="l"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collisions: </a:t>
            </a:r>
            <a:pPr algn="l" indent="0" marL="0">
              <a:spcAft>
                <a:spcPts val="1200"/>
              </a:spcAft>
              <a:buNone/>
            </a:pP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in 30 seeded test runs, and 0 with 30 robots on one floor.</a:t>
            </a:r>
            <a:endParaRPr lang="en-US" sz="1600" dirty="0"/>
          </a:p>
          <a:p>
            <a:pPr algn="l"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where stop-and-wait jams: </a:t>
            </a:r>
            <a:pPr algn="l" indent="0" marL="0">
              <a:spcAft>
                <a:spcPts val="1200"/>
              </a:spcAft>
              <a:buNone/>
            </a:pP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120/120 tasks done at 30 AMRs; the baseline stalled.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172200" y="1234440"/>
            <a:ext cx="5577840" cy="2194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4.2x less idle time: </a:t>
            </a:r>
            <a:pPr algn="l" indent="0" marL="0">
              <a:spcAft>
                <a:spcPts val="1200"/>
              </a:spcAft>
              <a:buNone/>
            </a:pP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 stop-and-wait with a 30-robot fleet.</a:t>
            </a:r>
            <a:endParaRPr lang="en-US" sz="1600" dirty="0"/>
          </a:p>
          <a:p>
            <a:pPr algn="l"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 allocation: </a:t>
            </a:r>
            <a:pPr algn="l" indent="0" marL="0">
              <a:spcAft>
                <a:spcPts val="1200"/>
              </a:spcAft>
              <a:buNone/>
            </a:pP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waiting tasks gain priority over time; low-battery robots bid higher.</a:t>
            </a:r>
            <a:endParaRPr lang="en-US" sz="1600" dirty="0"/>
          </a:p>
          <a:p>
            <a:pPr algn="l"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to operate: </a:t>
            </a:r>
            <a:pPr algn="l" indent="0" marL="0">
              <a:spcAft>
                <a:spcPts val="1200"/>
              </a:spcAft>
              <a:buNone/>
            </a:pP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an order in a browser; watch every robot's state and battery live.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3200400" y="3584448"/>
            <a:ext cx="576072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PROOF OF CONCEPT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274320" y="4160520"/>
            <a:ext cx="4343400" cy="1920240"/>
          </a:xfrm>
          <a:prstGeom prst="roundRect">
            <a:avLst>
              <a:gd name="adj" fmla="val 4762"/>
            </a:avLst>
          </a:prstGeom>
          <a:solidFill>
            <a:srgbClr val="0E1520"/>
          </a:solidFill>
          <a:ln w="19050">
            <a:solidFill>
              <a:srgbClr val="1B2A41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4224528"/>
            <a:ext cx="4197096" cy="1716329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274320" y="6126480"/>
            <a:ext cx="434340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A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dashboard: 30 AMRs, 0 collisions</a:t>
            </a:r>
            <a:endParaRPr lang="en-US" sz="110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4800600" y="4114800"/>
          <a:ext cx="3017520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3" name="Text 9"/>
          <p:cNvSpPr txBox="1"/>
          <p:nvPr/>
        </p:nvSpPr>
        <p:spPr>
          <a:xfrm>
            <a:off x="4709160" y="6355080"/>
            <a:ext cx="320040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4A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Baseline: 47 collisions, 118/120 tasks.  ROBOTON: 0 collisions, 120/120.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8001000" y="4160520"/>
            <a:ext cx="3913632" cy="2185416"/>
          </a:xfrm>
          <a:prstGeom prst="roundRect">
            <a:avLst>
              <a:gd name="adj" fmla="val 4184"/>
            </a:avLst>
          </a:prstGeom>
          <a:solidFill>
            <a:srgbClr val="0E1520"/>
          </a:solidFill>
          <a:ln w="19050">
            <a:solidFill>
              <a:srgbClr val="1B2A41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65592" y="4206240"/>
            <a:ext cx="3584448" cy="192024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001000" y="6355080"/>
            <a:ext cx="3913632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A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entry: the gateway names no robot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74320" y="182880"/>
            <a:ext cx="1828800" cy="548640"/>
          </a:xfrm>
          <a:prstGeom prst="rect">
            <a:avLst/>
          </a:prstGeom>
          <a:noFill/>
          <a:ln w="19050">
            <a:solidFill>
              <a:srgbClr val="1B2A41"/>
            </a:solidFill>
            <a:prstDash val="dash"/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A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NAME / LOGO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9418320" y="182880"/>
            <a:ext cx="2514600" cy="548640"/>
          </a:xfrm>
          <a:prstGeom prst="rect">
            <a:avLst/>
          </a:prstGeom>
          <a:noFill/>
          <a:ln w="19050">
            <a:solidFill>
              <a:srgbClr val="1B2A41"/>
            </a:solidFill>
            <a:prstDash val="dash"/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A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MINISTRY + SIH 2026 LOGOS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868680"/>
            <a:ext cx="941832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RESEARCH AND REFERENCES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645920"/>
            <a:ext cx="10972800" cy="4937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marL="342900" indent="-342900">
              <a:spcAft>
                <a:spcPts val="900"/>
              </a:spcAft>
              <a:buSzPct val="100000"/>
              <a:buChar char="❖"/>
            </a:pPr>
            <a:r>
              <a:rPr lang="en-US" sz="1600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Wurman, P. R., D'Andrea, R., and Mountz, M. 2008. "Coordinating Hundreds of Cooperative, Autonomous Vehicles in Warehouses." AI Magazine 29, no. 1.</a:t>
            </a:r>
            <a:endParaRPr lang="en-US" sz="1600" dirty="0"/>
          </a:p>
          <a:p>
            <a:pPr algn="l" marL="342900" indent="-342900">
              <a:spcAft>
                <a:spcPts val="900"/>
              </a:spcAft>
              <a:buSzPct val="100000"/>
              <a:buChar char="❖"/>
            </a:pPr>
            <a:r>
              <a:rPr lang="en-US" sz="1600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Ma, H., Li, J., Kumar, T. K. S., and Koenig, S. 2017. "Lifelong Multi-Agent Path Finding for Online Pickup and Delivery Tasks." Proc. AAMAS 2017.</a:t>
            </a:r>
            <a:endParaRPr lang="en-US" sz="1600" dirty="0"/>
          </a:p>
          <a:p>
            <a:pPr algn="l" marL="342900" indent="-342900">
              <a:spcAft>
                <a:spcPts val="900"/>
              </a:spcAft>
              <a:buSzPct val="100000"/>
              <a:buChar char="❖"/>
            </a:pPr>
            <a:r>
              <a:rPr lang="en-US" sz="1600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 Mors, A. W., Witteveen, C., Zutt, J., and Kuipers, F. A. 2010. "Context-Aware Route Planning." Multiagent System Technologies (MATES 2010), LNCS 6251.</a:t>
            </a:r>
            <a:endParaRPr lang="en-US" sz="1600" dirty="0"/>
          </a:p>
          <a:p>
            <a:pPr algn="l" marL="342900" indent="-342900">
              <a:spcAft>
                <a:spcPts val="900"/>
              </a:spcAft>
              <a:buSzPct val="100000"/>
              <a:buChar char="❖"/>
            </a:pPr>
            <a:r>
              <a:rPr lang="en-US" sz="1600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Hönig, W., Kiesel, S., Tinka, A., Durham, J. W., and Ayanian, N. 2019. "Persistent and Robust Execution of MAPF Schedules in Warehouses." IEEE Robotics and Automation Letters 4, no. 2.</a:t>
            </a:r>
            <a:endParaRPr lang="en-US" sz="1600" dirty="0"/>
          </a:p>
          <a:p>
            <a:pPr algn="l" marL="342900" indent="-342900">
              <a:spcAft>
                <a:spcPts val="900"/>
              </a:spcAft>
              <a:buSzPct val="100000"/>
              <a:buChar char="❖"/>
            </a:pPr>
            <a:r>
              <a:rPr lang="en-US" sz="1600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Silver, D. 2005. "Cooperative Pathfinding." Proc. AAAI Conference on Artificial Intelligence and Interactive Digital Entertainment (AIIDE).</a:t>
            </a:r>
            <a:endParaRPr lang="en-US" sz="1600" dirty="0"/>
          </a:p>
          <a:p>
            <a:pPr algn="l" marL="342900" indent="-342900">
              <a:spcAft>
                <a:spcPts val="900"/>
              </a:spcAft>
              <a:buSzPct val="100000"/>
              <a:buChar char="❖"/>
            </a:pPr>
            <a:r>
              <a:rPr lang="en-US" sz="1600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Dias, M. B., Zlot, R., Kalra, N., and Stentz, A. 2006. "Market-Based Multirobot Coordination: A Survey and Analysis." Proceedings of the IEEE 94, no. 7.</a:t>
            </a:r>
            <a:endParaRPr lang="en-US" sz="1600" dirty="0"/>
          </a:p>
          <a:p>
            <a:pPr algn="l" marL="342900" indent="-342900">
              <a:spcAft>
                <a:spcPts val="900"/>
              </a:spcAft>
              <a:buSzPct val="100000"/>
              <a:buChar char="❖"/>
            </a:pPr>
            <a:r>
              <a:rPr lang="en-US" sz="1600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Koenig, S., and Likhachev, M. 2002. "D* Lite." Proc. AAAI Conference on Artificial Intelligence.</a:t>
            </a:r>
            <a:endParaRPr lang="en-US" sz="1600" dirty="0"/>
          </a:p>
          <a:p>
            <a:pPr algn="l" marL="342900" indent="-342900">
              <a:spcAft>
                <a:spcPts val="900"/>
              </a:spcAft>
              <a:buSzPct val="100000"/>
              <a:buChar char="❖"/>
            </a:pPr>
            <a:r>
              <a:rPr lang="en-US" sz="1600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Espressif Systems. "ESP-NOW User Guide." Espressif documentation.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ROBOTON - SIH 2026</dc:title>
  <dc:subject>PptxGenJS Presentation</dc:subject>
  <dc:creator>PptxGenJS</dc:creator>
  <cp:lastModifiedBy>PptxGenJS</cp:lastModifiedBy>
  <cp:revision>1</cp:revision>
  <dcterms:created xsi:type="dcterms:W3CDTF">2026-09-27T13:51:46Z</dcterms:created>
  <dcterms:modified xsi:type="dcterms:W3CDTF">2026-09-27T13:51:46Z</dcterms:modified>
</cp:coreProperties>
</file>