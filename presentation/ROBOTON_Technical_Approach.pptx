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82880"/>
            <a:ext cx="1828800" cy="548640"/>
          </a:xfrm>
          <a:prstGeom prst="rect">
            <a:avLst/>
          </a:prstGeom>
          <a:noFill/>
          <a:ln w="19050">
            <a:solidFill>
              <a:srgbClr val="1B2A41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/ LOGO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2743200" y="137160"/>
            <a:ext cx="603504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TECHNICAL APPROACH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915400" y="182880"/>
            <a:ext cx="21031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2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26123 · ROBOTON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109960" y="182880"/>
            <a:ext cx="777240" cy="548640"/>
          </a:xfrm>
          <a:prstGeom prst="rect">
            <a:avLst/>
          </a:prstGeom>
          <a:noFill/>
          <a:ln w="19050">
            <a:solidFill>
              <a:srgbClr val="1B2A41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457200" cy="4572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965960"/>
            <a:ext cx="457200" cy="45720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788920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22960" y="1051560"/>
            <a:ext cx="1463040" cy="640080"/>
          </a:xfrm>
          <a:prstGeom prst="ellipse">
            <a:avLst/>
          </a:prstGeom>
          <a:solidFill>
            <a:srgbClr val="FFE7A8"/>
          </a:solidFill>
          <a:ln w="15875">
            <a:solidFill>
              <a:srgbClr val="B8860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 Sensors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[Pose · Proximity]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822960" y="1874520"/>
            <a:ext cx="1463040" cy="640080"/>
          </a:xfrm>
          <a:prstGeom prst="ellipse">
            <a:avLst/>
          </a:prstGeom>
          <a:solidFill>
            <a:srgbClr val="FFE7A8"/>
          </a:solidFill>
          <a:ln w="15875">
            <a:solidFill>
              <a:srgbClr val="B8860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Order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[Order Gateway]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822960" y="2697480"/>
            <a:ext cx="1463040" cy="640080"/>
          </a:xfrm>
          <a:prstGeom prst="ellipse">
            <a:avLst/>
          </a:prstGeom>
          <a:solidFill>
            <a:srgbClr val="FFE7A8"/>
          </a:solidFill>
          <a:ln w="15875">
            <a:solidFill>
              <a:srgbClr val="B8860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Map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[Graph JSON]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2651760" y="187452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D4E6F7"/>
          </a:solidFill>
          <a:ln w="15875">
            <a:solidFill>
              <a:srgbClr val="2E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Mesh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[ESP-NOW · 250 B]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2286000" y="1371600"/>
            <a:ext cx="1097280" cy="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383280" y="1371600"/>
            <a:ext cx="0" cy="50292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2286000" y="2194560"/>
            <a:ext cx="365760" cy="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2286000" y="3017520"/>
            <a:ext cx="731520" cy="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 flipV="1">
            <a:off x="3017520" y="2514600"/>
            <a:ext cx="0" cy="50292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18" name="Text 13"/>
          <p:cNvSpPr/>
          <p:nvPr/>
        </p:nvSpPr>
        <p:spPr>
          <a:xfrm>
            <a:off x="2651760" y="3429000"/>
            <a:ext cx="1463040" cy="640080"/>
          </a:xfrm>
          <a:prstGeom prst="ellipse">
            <a:avLst/>
          </a:prstGeom>
          <a:solidFill>
            <a:srgbClr val="FFE7A8"/>
          </a:solidFill>
          <a:ln w="15875">
            <a:solidFill>
              <a:srgbClr val="B8860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State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[INTENT @ 5 Hz]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749040" y="2514600"/>
            <a:ext cx="0" cy="91440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4526280" y="960120"/>
            <a:ext cx="4206240" cy="2971800"/>
          </a:xfrm>
          <a:prstGeom prst="roundRect">
            <a:avLst>
              <a:gd name="adj" fmla="val 3692"/>
            </a:avLst>
          </a:prstGeom>
          <a:solidFill>
            <a:srgbClr val="FFFFFF">
              <a:alpha val="65000"/>
            </a:srgbClr>
          </a:solidFill>
          <a:ln w="15875">
            <a:solidFill>
              <a:srgbClr val="2E5C8A"/>
            </a:solidFill>
            <a:prstDash val="dash"/>
          </a:ln>
        </p:spPr>
      </p:sp>
      <p:sp>
        <p:nvSpPr>
          <p:cNvPr id="21" name="Text 16"/>
          <p:cNvSpPr txBox="1"/>
          <p:nvPr/>
        </p:nvSpPr>
        <p:spPr>
          <a:xfrm>
            <a:off x="466344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2E5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ON-BOARD EVERY AMR  ·  NO CENTRAL PLANNER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709160" y="1417320"/>
            <a:ext cx="1143000" cy="594360"/>
          </a:xfrm>
          <a:prstGeom prst="flowChartPredefinedProcess">
            <a:avLst/>
          </a:prstGeom>
          <a:solidFill>
            <a:srgbClr val="D4E6F7"/>
          </a:solidFill>
          <a:ln w="15875">
            <a:solidFill>
              <a:srgbClr val="2E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Announce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080760" y="1417320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D4E6F7"/>
          </a:solidFill>
          <a:ln w="15875">
            <a:solidFill>
              <a:srgbClr val="2E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7452360" y="1417320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D4E6F7"/>
          </a:solidFill>
          <a:ln w="15875">
            <a:solidFill>
              <a:srgbClr val="2E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Time-Window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Planner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7452360" y="2514600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D4E6F7"/>
          </a:solidFill>
          <a:ln w="15875">
            <a:solidFill>
              <a:srgbClr val="2E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Reservation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[PATH broadcast]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6080760" y="2514600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D4E6F7"/>
          </a:solidFill>
          <a:ln w="15875">
            <a:solidFill>
              <a:srgbClr val="2E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4709160" y="2514600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D4E6F7"/>
          </a:solidFill>
          <a:ln w="15875">
            <a:solidFill>
              <a:srgbClr val="2E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[loss · dropouts]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5852160" y="1714500"/>
            <a:ext cx="228600" cy="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7223760" y="1714500"/>
            <a:ext cx="228600" cy="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8023860" y="2011680"/>
            <a:ext cx="0" cy="50292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 flipH="1">
            <a:off x="7223760" y="2811780"/>
            <a:ext cx="228600" cy="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 flipH="1">
            <a:off x="5852160" y="2811780"/>
            <a:ext cx="228600" cy="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33" name="Shape 28"/>
          <p:cNvSpPr/>
          <p:nvPr/>
        </p:nvSpPr>
        <p:spPr>
          <a:xfrm>
            <a:off x="4114800" y="2194560"/>
            <a:ext cx="274320" cy="0"/>
          </a:xfrm>
          <a:prstGeom prst="line">
            <a:avLst/>
          </a:prstGeom>
          <a:noFill/>
          <a:ln w="19050">
            <a:solidFill>
              <a:srgbClr val="1B2A41"/>
            </a:solidFill>
            <a:prstDash val="dash"/>
          </a:ln>
        </p:spPr>
      </p:sp>
      <p:sp>
        <p:nvSpPr>
          <p:cNvPr id="34" name="Shape 29"/>
          <p:cNvSpPr/>
          <p:nvPr/>
        </p:nvSpPr>
        <p:spPr>
          <a:xfrm flipV="1">
            <a:off x="4389120" y="1714500"/>
            <a:ext cx="0" cy="480060"/>
          </a:xfrm>
          <a:prstGeom prst="line">
            <a:avLst/>
          </a:prstGeom>
          <a:noFill/>
          <a:ln w="19050">
            <a:solidFill>
              <a:srgbClr val="1B2A41"/>
            </a:solidFill>
            <a:prstDash val="dash"/>
          </a:ln>
        </p:spPr>
      </p:sp>
      <p:sp>
        <p:nvSpPr>
          <p:cNvPr id="35" name="Shape 30"/>
          <p:cNvSpPr/>
          <p:nvPr/>
        </p:nvSpPr>
        <p:spPr>
          <a:xfrm>
            <a:off x="4389120" y="1714500"/>
            <a:ext cx="320040" cy="0"/>
          </a:xfrm>
          <a:prstGeom prst="line">
            <a:avLst/>
          </a:prstGeom>
          <a:noFill/>
          <a:ln w="19050">
            <a:solidFill>
              <a:srgbClr val="1B2A41"/>
            </a:solidFill>
            <a:prstDash val="dash"/>
            <a:tailEnd type="triangle"/>
          </a:ln>
        </p:spPr>
      </p:sp>
      <p:sp>
        <p:nvSpPr>
          <p:cNvPr id="36" name="Text 31"/>
          <p:cNvSpPr txBox="1"/>
          <p:nvPr/>
        </p:nvSpPr>
        <p:spPr>
          <a:xfrm>
            <a:off x="5989320" y="3246120"/>
            <a:ext cx="26517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of way is decided by booking order, never by the clock. The rule is deterministic, so two robots can never both believe they have it.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4599432" y="4206240"/>
            <a:ext cx="1371600" cy="594360"/>
          </a:xfrm>
          <a:prstGeom prst="ellipse">
            <a:avLst/>
          </a:prstGeom>
          <a:solidFill>
            <a:srgbClr val="FFE7A8"/>
          </a:solidFill>
          <a:ln w="15875">
            <a:solidFill>
              <a:srgbClr val="B8860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Delivered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[COMPLETE]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5285232" y="3108960"/>
            <a:ext cx="0" cy="109728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39" name="Text 34"/>
          <p:cNvSpPr/>
          <p:nvPr/>
        </p:nvSpPr>
        <p:spPr>
          <a:xfrm>
            <a:off x="6263640" y="4224528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D4E6F7"/>
          </a:solidFill>
          <a:ln w="15875">
            <a:solidFill>
              <a:srgbClr val="2E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[WebSocket]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7589520" y="4206240"/>
            <a:ext cx="1097280" cy="594360"/>
          </a:xfrm>
          <a:prstGeom prst="ellipse">
            <a:avLst/>
          </a:prstGeom>
          <a:solidFill>
            <a:srgbClr val="FFE7A8"/>
          </a:solidFill>
          <a:ln w="15875">
            <a:solidFill>
              <a:srgbClr val="B8860B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41" name="Shape 36"/>
          <p:cNvSpPr/>
          <p:nvPr/>
        </p:nvSpPr>
        <p:spPr>
          <a:xfrm>
            <a:off x="5971032" y="4503420"/>
            <a:ext cx="292608" cy="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42" name="Shape 37"/>
          <p:cNvSpPr/>
          <p:nvPr/>
        </p:nvSpPr>
        <p:spPr>
          <a:xfrm>
            <a:off x="7406640" y="4503420"/>
            <a:ext cx="182880" cy="0"/>
          </a:xfrm>
          <a:prstGeom prst="line">
            <a:avLst/>
          </a:prstGeom>
          <a:noFill/>
          <a:ln w="19050">
            <a:solidFill>
              <a:srgbClr val="1B2A41"/>
            </a:solidFill>
            <a:prstDash val="solid"/>
            <a:tailEnd type="triangle"/>
          </a:ln>
        </p:spPr>
      </p:sp>
      <p:sp>
        <p:nvSpPr>
          <p:cNvPr id="43" name="Text 38"/>
          <p:cNvSpPr/>
          <p:nvPr/>
        </p:nvSpPr>
        <p:spPr>
          <a:xfrm>
            <a:off x="1069848" y="5257800"/>
            <a:ext cx="960120" cy="1188720"/>
          </a:xfrm>
          <a:prstGeom prst="flowChartMagneticDisk">
            <a:avLst/>
          </a:prstGeom>
          <a:solidFill>
            <a:srgbClr val="CFE0F3"/>
          </a:solidFill>
          <a:ln w="15875">
            <a:solidFill>
              <a:srgbClr val="2E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2898648" y="5257800"/>
            <a:ext cx="960120" cy="1188720"/>
          </a:xfrm>
          <a:prstGeom prst="flowChartMagneticDisk">
            <a:avLst/>
          </a:prstGeom>
          <a:solidFill>
            <a:srgbClr val="CFE0F3"/>
          </a:solidFill>
          <a:ln w="15875">
            <a:solidFill>
              <a:srgbClr val="2E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Plan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4800600" y="5257800"/>
            <a:ext cx="960120" cy="1188720"/>
          </a:xfrm>
          <a:prstGeom prst="flowChartMagneticDisk">
            <a:avLst/>
          </a:prstGeom>
          <a:solidFill>
            <a:srgbClr val="CFE0F3"/>
          </a:solidFill>
          <a:ln w="15875">
            <a:solidFill>
              <a:srgbClr val="2E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Log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1554480" y="3337560"/>
            <a:ext cx="0" cy="1920240"/>
          </a:xfrm>
          <a:prstGeom prst="line">
            <a:avLst/>
          </a:prstGeom>
          <a:noFill/>
          <a:ln w="19050">
            <a:solidFill>
              <a:srgbClr val="1B2A41"/>
            </a:solidFill>
            <a:prstDash val="dash"/>
            <a:tailEnd type="triangle"/>
          </a:ln>
        </p:spPr>
      </p:sp>
      <p:sp>
        <p:nvSpPr>
          <p:cNvPr id="47" name="Shape 42"/>
          <p:cNvSpPr/>
          <p:nvPr/>
        </p:nvSpPr>
        <p:spPr>
          <a:xfrm>
            <a:off x="3383280" y="4069080"/>
            <a:ext cx="0" cy="1188720"/>
          </a:xfrm>
          <a:prstGeom prst="line">
            <a:avLst/>
          </a:prstGeom>
          <a:noFill/>
          <a:ln w="19050">
            <a:solidFill>
              <a:srgbClr val="1B2A41"/>
            </a:solidFill>
            <a:prstDash val="dash"/>
            <a:tailEnd type="triangle"/>
          </a:ln>
        </p:spPr>
      </p:sp>
      <p:sp>
        <p:nvSpPr>
          <p:cNvPr id="48" name="Shape 43"/>
          <p:cNvSpPr/>
          <p:nvPr/>
        </p:nvSpPr>
        <p:spPr>
          <a:xfrm>
            <a:off x="5285232" y="4800600"/>
            <a:ext cx="0" cy="457200"/>
          </a:xfrm>
          <a:prstGeom prst="line">
            <a:avLst/>
          </a:prstGeom>
          <a:noFill/>
          <a:ln w="19050">
            <a:solidFill>
              <a:srgbClr val="1B2A41"/>
            </a:solidFill>
            <a:prstDash val="dash"/>
            <a:tailEnd type="triangle"/>
          </a:ln>
        </p:spPr>
      </p:sp>
      <p:sp>
        <p:nvSpPr>
          <p:cNvPr id="49" name="Shape 44"/>
          <p:cNvSpPr/>
          <p:nvPr/>
        </p:nvSpPr>
        <p:spPr>
          <a:xfrm>
            <a:off x="5943600" y="5029200"/>
            <a:ext cx="2743200" cy="1645920"/>
          </a:xfrm>
          <a:prstGeom prst="roundRect">
            <a:avLst>
              <a:gd name="adj" fmla="val 8333"/>
            </a:avLst>
          </a:prstGeom>
          <a:solidFill>
            <a:srgbClr val="E4DDF3"/>
          </a:solidFill>
          <a:ln w="15875">
            <a:solidFill>
              <a:srgbClr val="7D6BAF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6035040" y="5056632"/>
            <a:ext cx="256032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Views  (read-only)</a:t>
            </a:r>
            <a:endParaRPr lang="en-US" sz="1100" dirty="0"/>
          </a:p>
        </p:txBody>
      </p:sp>
      <p:sp>
        <p:nvSpPr>
          <p:cNvPr id="51" name="Text 46"/>
          <p:cNvSpPr/>
          <p:nvPr/>
        </p:nvSpPr>
        <p:spPr>
          <a:xfrm>
            <a:off x="6080760" y="5394960"/>
            <a:ext cx="1188720" cy="502920"/>
          </a:xfrm>
          <a:prstGeom prst="hexagon">
            <a:avLst/>
          </a:prstGeom>
          <a:solidFill>
            <a:srgbClr val="C9D3EE"/>
          </a:solidFill>
          <a:ln w="15875">
            <a:solidFill>
              <a:srgbClr val="3D4F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Fleet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</a:t>
            </a:r>
            <a:endParaRPr lang="en-US" sz="1000" dirty="0"/>
          </a:p>
        </p:txBody>
      </p:sp>
      <p:sp>
        <p:nvSpPr>
          <p:cNvPr id="52" name="Text 47"/>
          <p:cNvSpPr/>
          <p:nvPr/>
        </p:nvSpPr>
        <p:spPr>
          <a:xfrm>
            <a:off x="7360920" y="5394960"/>
            <a:ext cx="1188720" cy="502920"/>
          </a:xfrm>
          <a:prstGeom prst="hexagon">
            <a:avLst/>
          </a:prstGeom>
          <a:solidFill>
            <a:srgbClr val="C9D3EE"/>
          </a:solidFill>
          <a:ln w="15875">
            <a:solidFill>
              <a:srgbClr val="3D4F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Benchmark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1000" dirty="0"/>
          </a:p>
        </p:txBody>
      </p:sp>
      <p:sp>
        <p:nvSpPr>
          <p:cNvPr id="53" name="Text 48"/>
          <p:cNvSpPr/>
          <p:nvPr/>
        </p:nvSpPr>
        <p:spPr>
          <a:xfrm>
            <a:off x="6080760" y="6035040"/>
            <a:ext cx="1188720" cy="502920"/>
          </a:xfrm>
          <a:prstGeom prst="hexagon">
            <a:avLst/>
          </a:prstGeom>
          <a:solidFill>
            <a:srgbClr val="C9D3EE"/>
          </a:solidFill>
          <a:ln w="15875">
            <a:solidFill>
              <a:srgbClr val="3D4F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Entry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000" dirty="0"/>
          </a:p>
        </p:txBody>
      </p:sp>
      <p:sp>
        <p:nvSpPr>
          <p:cNvPr id="54" name="Text 49"/>
          <p:cNvSpPr/>
          <p:nvPr/>
        </p:nvSpPr>
        <p:spPr>
          <a:xfrm>
            <a:off x="7360920" y="6035040"/>
            <a:ext cx="1188720" cy="502920"/>
          </a:xfrm>
          <a:prstGeom prst="hexagon">
            <a:avLst/>
          </a:prstGeom>
          <a:solidFill>
            <a:srgbClr val="C9D3EE"/>
          </a:solidFill>
          <a:ln w="15875">
            <a:solidFill>
              <a:srgbClr val="3D4F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Webots 3D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000" dirty="0"/>
          </a:p>
        </p:txBody>
      </p:sp>
      <p:sp>
        <p:nvSpPr>
          <p:cNvPr id="55" name="Shape 50"/>
          <p:cNvSpPr/>
          <p:nvPr/>
        </p:nvSpPr>
        <p:spPr>
          <a:xfrm>
            <a:off x="8138160" y="4800600"/>
            <a:ext cx="0" cy="228600"/>
          </a:xfrm>
          <a:prstGeom prst="line">
            <a:avLst/>
          </a:prstGeom>
          <a:noFill/>
          <a:ln w="19050">
            <a:solidFill>
              <a:srgbClr val="1B2A41"/>
            </a:solidFill>
            <a:prstDash val="dash"/>
            <a:tailEnd type="triangle"/>
          </a:ln>
        </p:spPr>
      </p:sp>
      <p:sp>
        <p:nvSpPr>
          <p:cNvPr id="56" name="Shape 51"/>
          <p:cNvSpPr/>
          <p:nvPr/>
        </p:nvSpPr>
        <p:spPr>
          <a:xfrm>
            <a:off x="8915400" y="914400"/>
            <a:ext cx="3017520" cy="5760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25400">
            <a:solidFill>
              <a:srgbClr val="1B2A41"/>
            </a:solidFill>
            <a:prstDash val="solid"/>
          </a:ln>
        </p:spPr>
      </p:sp>
      <p:sp>
        <p:nvSpPr>
          <p:cNvPr id="57" name="Text 52"/>
          <p:cNvSpPr txBox="1"/>
          <p:nvPr/>
        </p:nvSpPr>
        <p:spPr>
          <a:xfrm>
            <a:off x="8915400" y="987552"/>
            <a:ext cx="3017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 STACK</a:t>
            </a:r>
            <a:endParaRPr lang="en-US" sz="2000" dirty="0"/>
          </a:p>
        </p:txBody>
      </p:sp>
      <p:sp>
        <p:nvSpPr>
          <p:cNvPr id="58" name="Text 53"/>
          <p:cNvSpPr txBox="1"/>
          <p:nvPr/>
        </p:nvSpPr>
        <p:spPr>
          <a:xfrm>
            <a:off x="9098280" y="14630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ROBOT LOGIC</a:t>
            </a:r>
            <a:endParaRPr lang="en-US" sz="1000" dirty="0"/>
          </a:p>
        </p:txBody>
      </p:sp>
      <p:pic>
        <p:nvPicPr>
          <p:cNvPr id="5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48" y="1737360"/>
            <a:ext cx="420624" cy="420624"/>
          </a:xfrm>
          <a:prstGeom prst="rect">
            <a:avLst/>
          </a:prstGeom>
        </p:spPr>
      </p:pic>
      <p:sp>
        <p:nvSpPr>
          <p:cNvPr id="60" name="Text 54"/>
          <p:cNvSpPr txBox="1"/>
          <p:nvPr/>
        </p:nvSpPr>
        <p:spPr>
          <a:xfrm>
            <a:off x="9052560" y="21762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950" dirty="0"/>
          </a:p>
        </p:txBody>
      </p:sp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9648" y="1737360"/>
            <a:ext cx="420624" cy="420624"/>
          </a:xfrm>
          <a:prstGeom prst="rect">
            <a:avLst/>
          </a:prstGeom>
        </p:spPr>
      </p:pic>
      <p:sp>
        <p:nvSpPr>
          <p:cNvPr id="62" name="Text 55"/>
          <p:cNvSpPr txBox="1"/>
          <p:nvPr/>
        </p:nvSpPr>
        <p:spPr>
          <a:xfrm>
            <a:off x="10424160" y="21762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· ESP-NOW</a:t>
            </a:r>
            <a:endParaRPr lang="en-US" sz="950" dirty="0"/>
          </a:p>
        </p:txBody>
      </p:sp>
      <p:sp>
        <p:nvSpPr>
          <p:cNvPr id="63" name="Shape 56"/>
          <p:cNvSpPr/>
          <p:nvPr/>
        </p:nvSpPr>
        <p:spPr>
          <a:xfrm>
            <a:off x="9144000" y="2487168"/>
            <a:ext cx="2560320" cy="0"/>
          </a:xfrm>
          <a:prstGeom prst="line">
            <a:avLst/>
          </a:prstGeom>
          <a:noFill/>
          <a:ln w="12700">
            <a:solidFill>
              <a:srgbClr val="B9C3CF"/>
            </a:solidFill>
            <a:prstDash val="solid"/>
          </a:ln>
        </p:spPr>
      </p:sp>
      <p:sp>
        <p:nvSpPr>
          <p:cNvPr id="64" name="Text 57"/>
          <p:cNvSpPr txBox="1"/>
          <p:nvPr/>
        </p:nvSpPr>
        <p:spPr>
          <a:xfrm>
            <a:off x="9098280" y="25603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&amp; DASHBOARD</a:t>
            </a:r>
            <a:endParaRPr lang="en-US" sz="1000" dirty="0"/>
          </a:p>
        </p:txBody>
      </p:sp>
      <p:pic>
        <p:nvPicPr>
          <p:cNvPr id="65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5148" y="2834640"/>
            <a:ext cx="420624" cy="420624"/>
          </a:xfrm>
          <a:prstGeom prst="rect">
            <a:avLst/>
          </a:prstGeom>
        </p:spPr>
      </p:pic>
      <p:sp>
        <p:nvSpPr>
          <p:cNvPr id="66" name="Text 58"/>
          <p:cNvSpPr txBox="1"/>
          <p:nvPr/>
        </p:nvSpPr>
        <p:spPr>
          <a:xfrm>
            <a:off x="9052560" y="327355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50" dirty="0"/>
          </a:p>
        </p:txBody>
      </p:sp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0948" y="2834640"/>
            <a:ext cx="420624" cy="420624"/>
          </a:xfrm>
          <a:prstGeom prst="rect">
            <a:avLst/>
          </a:prstGeom>
        </p:spPr>
      </p:pic>
      <p:sp>
        <p:nvSpPr>
          <p:cNvPr id="68" name="Text 59"/>
          <p:cNvSpPr txBox="1"/>
          <p:nvPr/>
        </p:nvSpPr>
        <p:spPr>
          <a:xfrm>
            <a:off x="9738360" y="327355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WebSockets</a:t>
            </a:r>
            <a:endParaRPr lang="en-US" sz="950" dirty="0"/>
          </a:p>
        </p:txBody>
      </p:sp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56748" y="2834640"/>
            <a:ext cx="420624" cy="420624"/>
          </a:xfrm>
          <a:prstGeom prst="rect">
            <a:avLst/>
          </a:prstGeom>
        </p:spPr>
      </p:pic>
      <p:sp>
        <p:nvSpPr>
          <p:cNvPr id="70" name="Text 60"/>
          <p:cNvSpPr txBox="1"/>
          <p:nvPr/>
        </p:nvSpPr>
        <p:spPr>
          <a:xfrm>
            <a:off x="10424160" y="327355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950" dirty="0"/>
          </a:p>
        </p:txBody>
      </p:sp>
      <p:pic>
        <p:nvPicPr>
          <p:cNvPr id="71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42548" y="2834640"/>
            <a:ext cx="420624" cy="420624"/>
          </a:xfrm>
          <a:prstGeom prst="rect">
            <a:avLst/>
          </a:prstGeom>
        </p:spPr>
      </p:pic>
      <p:sp>
        <p:nvSpPr>
          <p:cNvPr id="72" name="Text 61"/>
          <p:cNvSpPr txBox="1"/>
          <p:nvPr/>
        </p:nvSpPr>
        <p:spPr>
          <a:xfrm>
            <a:off x="11109960" y="327355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950" dirty="0"/>
          </a:p>
        </p:txBody>
      </p:sp>
      <p:sp>
        <p:nvSpPr>
          <p:cNvPr id="73" name="Shape 62"/>
          <p:cNvSpPr/>
          <p:nvPr/>
        </p:nvSpPr>
        <p:spPr>
          <a:xfrm>
            <a:off x="9144000" y="3584448"/>
            <a:ext cx="2560320" cy="0"/>
          </a:xfrm>
          <a:prstGeom prst="line">
            <a:avLst/>
          </a:prstGeom>
          <a:noFill/>
          <a:ln w="12700">
            <a:solidFill>
              <a:srgbClr val="B9C3CF"/>
            </a:solidFill>
            <a:prstDash val="solid"/>
          </a:ln>
        </p:spPr>
      </p:sp>
      <p:sp>
        <p:nvSpPr>
          <p:cNvPr id="74" name="Text 63"/>
          <p:cNvSpPr txBox="1"/>
          <p:nvPr/>
        </p:nvSpPr>
        <p:spPr>
          <a:xfrm>
            <a:off x="9098280" y="36576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VERIFICATION</a:t>
            </a:r>
            <a:endParaRPr lang="en-US" sz="1000" dirty="0"/>
          </a:p>
        </p:txBody>
      </p:sp>
      <p:pic>
        <p:nvPicPr>
          <p:cNvPr id="75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99448" y="3931920"/>
            <a:ext cx="420624" cy="420624"/>
          </a:xfrm>
          <a:prstGeom prst="rect">
            <a:avLst/>
          </a:prstGeom>
        </p:spPr>
      </p:pic>
      <p:sp>
        <p:nvSpPr>
          <p:cNvPr id="76" name="Text 64"/>
          <p:cNvSpPr txBox="1"/>
          <p:nvPr/>
        </p:nvSpPr>
        <p:spPr>
          <a:xfrm>
            <a:off x="9052560" y="43708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Webots 3D</a:t>
            </a:r>
            <a:endParaRPr lang="en-US" sz="950" dirty="0"/>
          </a:p>
        </p:txBody>
      </p:sp>
      <p:pic>
        <p:nvPicPr>
          <p:cNvPr id="77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13848" y="3931920"/>
            <a:ext cx="420624" cy="420624"/>
          </a:xfrm>
          <a:prstGeom prst="rect">
            <a:avLst/>
          </a:prstGeom>
        </p:spPr>
      </p:pic>
      <p:sp>
        <p:nvSpPr>
          <p:cNvPr id="78" name="Text 65"/>
          <p:cNvSpPr txBox="1"/>
          <p:nvPr/>
        </p:nvSpPr>
        <p:spPr>
          <a:xfrm>
            <a:off x="9966960" y="43708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950" dirty="0"/>
          </a:p>
        </p:txBody>
      </p:sp>
      <p:pic>
        <p:nvPicPr>
          <p:cNvPr id="79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28248" y="3931920"/>
            <a:ext cx="420624" cy="420624"/>
          </a:xfrm>
          <a:prstGeom prst="rect">
            <a:avLst/>
          </a:prstGeom>
        </p:spPr>
      </p:pic>
      <p:sp>
        <p:nvSpPr>
          <p:cNvPr id="80" name="Text 66"/>
          <p:cNvSpPr txBox="1"/>
          <p:nvPr/>
        </p:nvSpPr>
        <p:spPr>
          <a:xfrm>
            <a:off x="10881360" y="437083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950" dirty="0"/>
          </a:p>
        </p:txBody>
      </p:sp>
      <p:sp>
        <p:nvSpPr>
          <p:cNvPr id="81" name="Shape 67"/>
          <p:cNvSpPr/>
          <p:nvPr/>
        </p:nvSpPr>
        <p:spPr>
          <a:xfrm>
            <a:off x="9144000" y="4681728"/>
            <a:ext cx="2560320" cy="0"/>
          </a:xfrm>
          <a:prstGeom prst="line">
            <a:avLst/>
          </a:prstGeom>
          <a:noFill/>
          <a:ln w="12700">
            <a:solidFill>
              <a:srgbClr val="B9C3CF"/>
            </a:solidFill>
            <a:prstDash val="solid"/>
          </a:ln>
        </p:spPr>
      </p:sp>
      <p:sp>
        <p:nvSpPr>
          <p:cNvPr id="82" name="Text 68"/>
          <p:cNvSpPr txBox="1"/>
          <p:nvPr/>
        </p:nvSpPr>
        <p:spPr>
          <a:xfrm>
            <a:off x="9098280" y="47548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ALGORITHMS</a:t>
            </a:r>
            <a:endParaRPr lang="en-US" sz="1000" dirty="0"/>
          </a:p>
        </p:txBody>
      </p:sp>
      <p:sp>
        <p:nvSpPr>
          <p:cNvPr id="83" name="Text 69"/>
          <p:cNvSpPr/>
          <p:nvPr/>
        </p:nvSpPr>
        <p:spPr>
          <a:xfrm>
            <a:off x="9144000" y="5029200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9525">
            <a:solidFill>
              <a:srgbClr val="2E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Sealed-bid reverse auction</a:t>
            </a:r>
            <a:endParaRPr lang="en-US" sz="1000" dirty="0"/>
          </a:p>
        </p:txBody>
      </p:sp>
      <p:sp>
        <p:nvSpPr>
          <p:cNvPr id="84" name="Text 70"/>
          <p:cNvSpPr/>
          <p:nvPr/>
        </p:nvSpPr>
        <p:spPr>
          <a:xfrm>
            <a:off x="9144000" y="5422392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9525">
            <a:solidFill>
              <a:srgbClr val="2E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Free-time-window A*</a:t>
            </a:r>
            <a:endParaRPr lang="en-US" sz="1000" dirty="0"/>
          </a:p>
        </p:txBody>
      </p:sp>
      <p:sp>
        <p:nvSpPr>
          <p:cNvPr id="85" name="Text 71"/>
          <p:cNvSpPr/>
          <p:nvPr/>
        </p:nvSpPr>
        <p:spPr>
          <a:xfrm>
            <a:off x="9144000" y="5815584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9525">
            <a:solidFill>
              <a:srgbClr val="2E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 execution (ADG)</a:t>
            </a:r>
            <a:endParaRPr lang="en-US" sz="1000" dirty="0"/>
          </a:p>
        </p:txBody>
      </p:sp>
      <p:sp>
        <p:nvSpPr>
          <p:cNvPr id="86" name="Text 72"/>
          <p:cNvSpPr/>
          <p:nvPr/>
        </p:nvSpPr>
        <p:spPr>
          <a:xfrm>
            <a:off x="9144000" y="6208776"/>
            <a:ext cx="2560320" cy="310896"/>
          </a:xfrm>
          <a:prstGeom prst="roundRect">
            <a:avLst>
              <a:gd name="adj" fmla="val 50000"/>
            </a:avLst>
          </a:prstGeom>
          <a:solidFill>
            <a:srgbClr val="EAF1F8"/>
          </a:solidFill>
          <a:ln w="9525">
            <a:solidFill>
              <a:srgbClr val="2E5C8A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Well-formed Kiva-style maps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ROBOTON Technical Approach</dc:title>
  <dc:subject>PptxGenJS Presentation</dc:subject>
  <dc:creator>PptxGenJS</dc:creator>
  <cp:lastModifiedBy>PptxGenJS</cp:lastModifiedBy>
  <cp:revision>1</cp:revision>
  <dcterms:created xsi:type="dcterms:W3CDTF">2026-09-26T19:58:50Z</dcterms:created>
  <dcterms:modified xsi:type="dcterms:W3CDTF">2026-09-26T19:58:50Z</dcterms:modified>
</cp:coreProperties>
</file>