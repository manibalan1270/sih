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Arimo Bold" charset="1" panose="020B0704020202020204"/>
      <p:regular r:id="rId7"/>
    </p:embeddedFont>
    <p:embeddedFont>
      <p:font typeface="Canva Sans 1" charset="1" panose="020B0503030501040103"/>
      <p:regular r:id="rId8"/>
    </p:embeddedFont>
    <p:embeddedFont>
      <p:font typeface="Canva Sans 2 Bold" charset="1" panose="020B0803030501040103"/>
      <p:regular r:id="rId9"/>
    </p:embeddedFont>
    <p:embeddedFont>
      <p:font typeface="Canva Sans 1 Bold" charset="1" panose="020B0803030501040103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Relationship Id="rIdRB0" Type="http://schemas.openxmlformats.org/officeDocument/2006/relationships/image" Target="../media/roboton0.png"/><Relationship Id="rIdRB1" Type="http://schemas.openxmlformats.org/officeDocument/2006/relationships/image" Target="../media/roboton1.png"/><Relationship Id="rIdRB2" Type="http://schemas.openxmlformats.org/officeDocument/2006/relationships/image" Target="../media/roboton2.png"/><Relationship Id="rIdRB3" Type="http://schemas.openxmlformats.org/officeDocument/2006/relationships/image" Target="../media/roboton3.png"/><Relationship Id="rIdRB4" Type="http://schemas.openxmlformats.org/officeDocument/2006/relationships/image" Target="../media/roboton4.png"/><Relationship Id="rIdRB7" Type="http://schemas.openxmlformats.org/officeDocument/2006/relationships/image" Target="../media/roboton7.png"/><Relationship Id="rIdRB8" Type="http://schemas.openxmlformats.org/officeDocument/2006/relationships/image" Target="../media/roboton8.png"/><Relationship Id="rIdRB9" Type="http://schemas.openxmlformats.org/officeDocument/2006/relationships/image" Target="../media/roboton9.png"/><Relationship Id="rIdRB10" Type="http://schemas.openxmlformats.org/officeDocument/2006/relationships/image" Target="../media/roboton10.png"/><Relationship Id="rIdRB11" Type="http://schemas.openxmlformats.org/officeDocument/2006/relationships/image" Target="../media/roboton11.png"/><Relationship Id="rIdRB12" Type="http://schemas.openxmlformats.org/officeDocument/2006/relationships/image" Target="../media/roboton12.png"/><Relationship Id="rIdRB13" Type="http://schemas.openxmlformats.org/officeDocument/2006/relationships/image" Target="../media/roboton13.png"/><Relationship Id="rIdRB14" Type="http://schemas.openxmlformats.org/officeDocument/2006/relationships/image" Target="../media/roboton14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56664" y="-328261"/>
            <a:ext cx="10943522" cy="10943522"/>
          </a:xfrm>
          <a:custGeom>
            <a:avLst/>
            <a:gdLst/>
            <a:ahLst/>
            <a:cxnLst/>
            <a:rect r="r" b="b" t="t" l="l"/>
            <a:pathLst>
              <a:path h="10943522" w="10943522">
                <a:moveTo>
                  <a:pt x="0" y="0"/>
                </a:moveTo>
                <a:lnTo>
                  <a:pt x="10943522" y="0"/>
                </a:lnTo>
                <a:lnTo>
                  <a:pt x="10943522" y="10943522"/>
                </a:lnTo>
                <a:lnTo>
                  <a:pt x="0" y="109435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801501" y="-2799283"/>
            <a:ext cx="13534160" cy="13534160"/>
          </a:xfrm>
          <a:custGeom>
            <a:avLst/>
            <a:gdLst/>
            <a:ahLst/>
            <a:cxnLst/>
            <a:rect r="r" b="b" t="t" l="l"/>
            <a:pathLst>
              <a:path h="13534160" w="13534160">
                <a:moveTo>
                  <a:pt x="0" y="0"/>
                </a:moveTo>
                <a:lnTo>
                  <a:pt x="13534160" y="0"/>
                </a:lnTo>
                <a:lnTo>
                  <a:pt x="13534160" y="13534160"/>
                </a:lnTo>
                <a:lnTo>
                  <a:pt x="0" y="135341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id="5002" name="Image 0" descr="preencoded.png">    </p:cNvPr>
          <p:cNvPicPr>
            <a:picLocks noChangeAspect="1"/>
          </p:cNvPicPr>
          <p:nvPr/>
        </p:nvPicPr>
        <p:blipFill>
          <a:blip r:embed="rIdRB0"/>
          <a:stretch>
            <a:fillRect/>
          </a:stretch>
        </p:blipFill>
        <p:spPr>
          <a:xfrm>
            <a:off x="320040" y="1737360"/>
            <a:ext cx="548640" cy="548640"/>
          </a:xfrm>
          <a:prstGeom prst="rect">
            <a:avLst/>
          </a:prstGeom>
        </p:spPr>
      </p:pic>
      <p:sp>
        <p:nvSpPr>
          <p:cNvPr id="5003" name="Text 0"/>
          <p:cNvSpPr/>
          <p:nvPr/>
        </p:nvSpPr>
        <p:spPr>
          <a:xfrm>
            <a:off x="914400" y="1554480"/>
            <a:ext cx="27432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AMR SENSORS</a:t>
            </a:r>
            <a:endParaRPr lang="en-US" sz="15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nva Sans 1" pitchFamily="34" charset="0"/>
                <a:ea typeface="Canva Sans 1" pitchFamily="34" charset="-122"/>
                <a:cs typeface="Canva Sans 1" pitchFamily="34" charset="-120"/>
              </a:rPr>
              <a:t>Pose · Proximity</a:t>
            </a:r>
            <a:endParaRPr lang="en-US" sz="1550" dirty="0"/>
          </a:p>
        </p:txBody>
      </p:sp>
      <p:pic>
        <p:nvPicPr>
          <p:cNvPr id="5004" name="Image 1" descr="preencoded.png">    </p:cNvPr>
          <p:cNvPicPr>
            <a:picLocks noChangeAspect="1"/>
          </p:cNvPicPr>
          <p:nvPr/>
        </p:nvPicPr>
        <p:blipFill>
          <a:blip r:embed="rIdRB7"/>
          <a:stretch>
            <a:fillRect/>
          </a:stretch>
        </p:blipFill>
        <p:spPr>
          <a:xfrm>
            <a:off x="320040" y="2926080"/>
            <a:ext cx="548640" cy="548640"/>
          </a:xfrm>
          <a:prstGeom prst="rect">
            <a:avLst/>
          </a:prstGeom>
        </p:spPr>
      </p:pic>
      <p:sp>
        <p:nvSpPr>
          <p:cNvPr id="5005" name="Text 1"/>
          <p:cNvSpPr/>
          <p:nvPr/>
        </p:nvSpPr>
        <p:spPr>
          <a:xfrm>
            <a:off x="914400" y="2743200"/>
            <a:ext cx="27432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OPERATOR ORDER</a:t>
            </a:r>
            <a:endParaRPr lang="en-US" sz="15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nva Sans 1" pitchFamily="34" charset="0"/>
                <a:ea typeface="Canva Sans 1" pitchFamily="34" charset="-122"/>
                <a:cs typeface="Canva Sans 1" pitchFamily="34" charset="-120"/>
              </a:rPr>
              <a:t>Order Gateway</a:t>
            </a:r>
            <a:endParaRPr lang="en-US" sz="1550" dirty="0"/>
          </a:p>
        </p:txBody>
      </p:sp>
      <p:pic>
        <p:nvPicPr>
          <p:cNvPr id="5006" name="Image 2" descr="preencoded.png">    </p:cNvPr>
          <p:cNvPicPr>
            <a:picLocks noChangeAspect="1"/>
          </p:cNvPicPr>
          <p:nvPr/>
        </p:nvPicPr>
        <p:blipFill>
          <a:blip r:embed="rIdRB8"/>
          <a:stretch>
            <a:fillRect/>
          </a:stretch>
        </p:blipFill>
        <p:spPr>
          <a:xfrm>
            <a:off x="320040" y="4114800"/>
            <a:ext cx="548640" cy="548640"/>
          </a:xfrm>
          <a:prstGeom prst="rect">
            <a:avLst/>
          </a:prstGeom>
        </p:spPr>
      </p:pic>
      <p:sp>
        <p:nvSpPr>
          <p:cNvPr id="5007" name="Text 2"/>
          <p:cNvSpPr/>
          <p:nvPr/>
        </p:nvSpPr>
        <p:spPr>
          <a:xfrm>
            <a:off x="914400" y="3931920"/>
            <a:ext cx="27432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WAREHOUSE MAP</a:t>
            </a:r>
            <a:endParaRPr lang="en-US" sz="15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nva Sans 1" pitchFamily="34" charset="0"/>
                <a:ea typeface="Canva Sans 1" pitchFamily="34" charset="-122"/>
                <a:cs typeface="Canva Sans 1" pitchFamily="34" charset="-120"/>
              </a:rPr>
              <a:t>Graph JSON</a:t>
            </a:r>
            <a:endParaRPr lang="en-US" sz="1550" dirty="0"/>
          </a:p>
        </p:txBody>
      </p:sp>
      <p:sp>
        <p:nvSpPr>
          <p:cNvPr id="5008" name="Text 3"/>
          <p:cNvSpPr/>
          <p:nvPr/>
        </p:nvSpPr>
        <p:spPr>
          <a:xfrm>
            <a:off x="3794760" y="2715768"/>
            <a:ext cx="2487168" cy="969264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PEER-TO-PEER MESH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ESP-NOW · 250 B</a:t>
            </a:r>
            <a:endParaRPr lang="en-US" sz="1700" dirty="0"/>
          </a:p>
        </p:txBody>
      </p:sp>
      <p:sp>
        <p:nvSpPr>
          <p:cNvPr id="5009" name="Shape 4"/>
          <p:cNvSpPr/>
          <p:nvPr/>
        </p:nvSpPr>
        <p:spPr>
          <a:xfrm>
            <a:off x="3657600" y="2011680"/>
            <a:ext cx="132588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</p:sp>
      <p:sp>
        <p:nvSpPr>
          <p:cNvPr id="5010" name="Shape 5"/>
          <p:cNvSpPr/>
          <p:nvPr/>
        </p:nvSpPr>
        <p:spPr>
          <a:xfrm>
            <a:off x="4983480" y="2011680"/>
            <a:ext cx="0" cy="704088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5011" name="Shape 6"/>
          <p:cNvSpPr/>
          <p:nvPr/>
        </p:nvSpPr>
        <p:spPr>
          <a:xfrm>
            <a:off x="3657600" y="3200400"/>
            <a:ext cx="13716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5012" name="Shape 7"/>
          <p:cNvSpPr/>
          <p:nvPr/>
        </p:nvSpPr>
        <p:spPr>
          <a:xfrm>
            <a:off x="3657600" y="4389120"/>
            <a:ext cx="54864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</p:sp>
      <p:sp>
        <p:nvSpPr>
          <p:cNvPr id="5013" name="Shape 8"/>
          <p:cNvSpPr/>
          <p:nvPr/>
        </p:nvSpPr>
        <p:spPr>
          <a:xfrm flipV="1">
            <a:off x="4206240" y="3685032"/>
            <a:ext cx="0" cy="704088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5014" name="Text 9"/>
          <p:cNvSpPr/>
          <p:nvPr/>
        </p:nvSpPr>
        <p:spPr>
          <a:xfrm>
            <a:off x="3794760" y="4709160"/>
            <a:ext cx="2487168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PEER STATE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INTENT @ 5 Hz</a:t>
            </a:r>
            <a:endParaRPr lang="en-US" sz="1600" dirty="0"/>
          </a:p>
        </p:txBody>
      </p:sp>
      <p:sp>
        <p:nvSpPr>
          <p:cNvPr id="5015" name="Shape 10"/>
          <p:cNvSpPr/>
          <p:nvPr/>
        </p:nvSpPr>
        <p:spPr>
          <a:xfrm>
            <a:off x="5577840" y="3685032"/>
            <a:ext cx="0" cy="1024128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5016" name="Shape 11"/>
          <p:cNvSpPr/>
          <p:nvPr/>
        </p:nvSpPr>
        <p:spPr>
          <a:xfrm>
            <a:off x="6537960" y="1371600"/>
            <a:ext cx="6903720" cy="4343400"/>
          </a:xfrm>
          <a:prstGeom prst="roundRect">
            <a:avLst>
              <a:gd name="adj" fmla="val 3158"/>
            </a:avLst>
          </a:prstGeom>
          <a:solidFill>
            <a:srgbClr val="FFFFFF">
              <a:alpha val="70000"/>
            </a:srgbClr>
          </a:solidFill>
          <a:ln w="31750">
            <a:solidFill>
              <a:srgbClr val="111111"/>
            </a:solidFill>
            <a:prstDash val="dash"/>
          </a:ln>
        </p:spPr>
      </p:sp>
      <p:sp>
        <p:nvSpPr>
          <p:cNvPr id="5017" name="Text 12"/>
          <p:cNvSpPr txBox="1"/>
          <p:nvPr/>
        </p:nvSpPr>
        <p:spPr>
          <a:xfrm>
            <a:off x="6720840" y="1444752"/>
            <a:ext cx="65836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ON-BOARD EVERY AMR  ·  NO CENTRAL PLANNER</a:t>
            </a:r>
            <a:endParaRPr lang="en-US" sz="1600" dirty="0"/>
          </a:p>
        </p:txBody>
      </p:sp>
      <p:sp>
        <p:nvSpPr>
          <p:cNvPr id="5018" name="Shape 13"/>
          <p:cNvSpPr/>
          <p:nvPr/>
        </p:nvSpPr>
        <p:spPr>
          <a:xfrm>
            <a:off x="6281928" y="3200400"/>
            <a:ext cx="100584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dash"/>
          </a:ln>
        </p:spPr>
      </p:sp>
      <p:sp>
        <p:nvSpPr>
          <p:cNvPr id="5019" name="Shape 14"/>
          <p:cNvSpPr/>
          <p:nvPr/>
        </p:nvSpPr>
        <p:spPr>
          <a:xfrm flipV="1">
            <a:off x="6382512" y="2468880"/>
            <a:ext cx="0" cy="731520"/>
          </a:xfrm>
          <a:prstGeom prst="line">
            <a:avLst/>
          </a:prstGeom>
          <a:noFill/>
          <a:ln w="25400">
            <a:solidFill>
              <a:srgbClr val="111111"/>
            </a:solidFill>
            <a:prstDash val="dash"/>
          </a:ln>
        </p:spPr>
      </p:sp>
      <p:sp>
        <p:nvSpPr>
          <p:cNvPr id="5020" name="Shape 15"/>
          <p:cNvSpPr/>
          <p:nvPr/>
        </p:nvSpPr>
        <p:spPr>
          <a:xfrm>
            <a:off x="6382512" y="2468880"/>
            <a:ext cx="338328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dash"/>
            <a:tailEnd type="triangle"/>
          </a:ln>
        </p:spPr>
      </p:sp>
      <p:sp>
        <p:nvSpPr>
          <p:cNvPr id="5021" name="Text 16"/>
          <p:cNvSpPr/>
          <p:nvPr/>
        </p:nvSpPr>
        <p:spPr>
          <a:xfrm>
            <a:off x="6720840" y="1965960"/>
            <a:ext cx="19659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TASK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ANNOUNCE RECEIVER</a:t>
            </a:r>
            <a:endParaRPr lang="en-US" sz="1700" dirty="0"/>
          </a:p>
        </p:txBody>
      </p:sp>
      <p:sp>
        <p:nvSpPr>
          <p:cNvPr id="5022" name="Text 17"/>
          <p:cNvSpPr/>
          <p:nvPr/>
        </p:nvSpPr>
        <p:spPr>
          <a:xfrm>
            <a:off x="9006840" y="1965960"/>
            <a:ext cx="19659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DISTRIBUTED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AUCTION</a:t>
            </a:r>
            <a:endParaRPr lang="en-US" sz="1700" dirty="0"/>
          </a:p>
        </p:txBody>
      </p:sp>
      <p:sp>
        <p:nvSpPr>
          <p:cNvPr id="5023" name="Text 18"/>
          <p:cNvSpPr/>
          <p:nvPr/>
        </p:nvSpPr>
        <p:spPr>
          <a:xfrm>
            <a:off x="11292840" y="1965960"/>
            <a:ext cx="19659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TIME-WINDOW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A* PLANNER</a:t>
            </a:r>
            <a:endParaRPr lang="en-US" sz="1700" dirty="0"/>
          </a:p>
        </p:txBody>
      </p:sp>
      <p:sp>
        <p:nvSpPr>
          <p:cNvPr id="5024" name="Text 19"/>
          <p:cNvSpPr/>
          <p:nvPr/>
        </p:nvSpPr>
        <p:spPr>
          <a:xfrm>
            <a:off x="11292840" y="3520440"/>
            <a:ext cx="19659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ROUTE RESERVATION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PATH broadcast</a:t>
            </a:r>
            <a:endParaRPr lang="en-US" sz="1600" dirty="0"/>
          </a:p>
        </p:txBody>
      </p:sp>
      <p:sp>
        <p:nvSpPr>
          <p:cNvPr id="5025" name="Text 20"/>
          <p:cNvSpPr/>
          <p:nvPr/>
        </p:nvSpPr>
        <p:spPr>
          <a:xfrm>
            <a:off x="9006840" y="3520440"/>
            <a:ext cx="19659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PRECEDENCE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EXECUTOR</a:t>
            </a:r>
            <a:endParaRPr lang="en-US" sz="1700" dirty="0"/>
          </a:p>
        </p:txBody>
      </p:sp>
      <p:sp>
        <p:nvSpPr>
          <p:cNvPr id="5026" name="Text 21"/>
          <p:cNvSpPr/>
          <p:nvPr/>
        </p:nvSpPr>
        <p:spPr>
          <a:xfrm>
            <a:off x="6720840" y="3520440"/>
            <a:ext cx="19659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SELF-HEALING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loss · dropouts</a:t>
            </a:r>
            <a:endParaRPr lang="en-US" sz="1700" dirty="0"/>
          </a:p>
        </p:txBody>
      </p:sp>
      <p:sp>
        <p:nvSpPr>
          <p:cNvPr id="5027" name="Shape 22"/>
          <p:cNvSpPr/>
          <p:nvPr/>
        </p:nvSpPr>
        <p:spPr>
          <a:xfrm>
            <a:off x="8686800" y="2468880"/>
            <a:ext cx="32004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5028" name="Shape 23"/>
          <p:cNvSpPr/>
          <p:nvPr/>
        </p:nvSpPr>
        <p:spPr>
          <a:xfrm>
            <a:off x="10972800" y="2468880"/>
            <a:ext cx="32004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5029" name="Shape 24"/>
          <p:cNvSpPr/>
          <p:nvPr/>
        </p:nvSpPr>
        <p:spPr>
          <a:xfrm>
            <a:off x="12275820" y="2971800"/>
            <a:ext cx="0" cy="54864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5030" name="Shape 25"/>
          <p:cNvSpPr/>
          <p:nvPr/>
        </p:nvSpPr>
        <p:spPr>
          <a:xfrm flipH="1">
            <a:off x="10972800" y="4023360"/>
            <a:ext cx="32004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5031" name="Shape 26"/>
          <p:cNvSpPr/>
          <p:nvPr/>
        </p:nvSpPr>
        <p:spPr>
          <a:xfrm flipH="1">
            <a:off x="8686800" y="4023360"/>
            <a:ext cx="32004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5032" name="Text 27"/>
          <p:cNvSpPr txBox="1"/>
          <p:nvPr/>
        </p:nvSpPr>
        <p:spPr>
          <a:xfrm>
            <a:off x="9006840" y="4663440"/>
            <a:ext cx="42976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444444"/>
                </a:solidFill>
                <a:latin typeface="Canva Sans 1" pitchFamily="34" charset="0"/>
                <a:ea typeface="Canva Sans 1" pitchFamily="34" charset="-122"/>
                <a:cs typeface="Canva Sans 1" pitchFamily="34" charset="-120"/>
              </a:rPr>
              <a:t>Right of way goes by booking order, never by the clock, so two robots can never both believe they have it.</a:t>
            </a:r>
            <a:endParaRPr lang="en-US" sz="1450" dirty="0"/>
          </a:p>
        </p:txBody>
      </p:sp>
      <p:sp>
        <p:nvSpPr>
          <p:cNvPr id="5033" name="Text 28"/>
          <p:cNvSpPr/>
          <p:nvPr/>
        </p:nvSpPr>
        <p:spPr>
          <a:xfrm>
            <a:off x="6675120" y="6035040"/>
            <a:ext cx="2103120" cy="914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E8C4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TASK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DELIVERED</a:t>
            </a:r>
            <a:endParaRPr lang="en-US" sz="1600" dirty="0"/>
          </a:p>
        </p:txBody>
      </p:sp>
      <p:sp>
        <p:nvSpPr>
          <p:cNvPr id="5034" name="Shape 29"/>
          <p:cNvSpPr/>
          <p:nvPr/>
        </p:nvSpPr>
        <p:spPr>
          <a:xfrm>
            <a:off x="7703820" y="4526280"/>
            <a:ext cx="0" cy="150876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5035" name="Text 30"/>
          <p:cNvSpPr/>
          <p:nvPr/>
        </p:nvSpPr>
        <p:spPr>
          <a:xfrm>
            <a:off x="9144000" y="6080760"/>
            <a:ext cx="187452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TELEMETRY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WebSocket</a:t>
            </a:r>
            <a:endParaRPr lang="en-US" sz="1600" dirty="0"/>
          </a:p>
        </p:txBody>
      </p:sp>
      <p:sp>
        <p:nvSpPr>
          <p:cNvPr id="5036" name="Text 31"/>
          <p:cNvSpPr/>
          <p:nvPr/>
        </p:nvSpPr>
        <p:spPr>
          <a:xfrm>
            <a:off x="11338560" y="6035040"/>
            <a:ext cx="210312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UPDATE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5037" name="Shape 32"/>
          <p:cNvSpPr/>
          <p:nvPr/>
        </p:nvSpPr>
        <p:spPr>
          <a:xfrm>
            <a:off x="8778240" y="6492240"/>
            <a:ext cx="36576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5038" name="Shape 33"/>
          <p:cNvSpPr/>
          <p:nvPr/>
        </p:nvSpPr>
        <p:spPr>
          <a:xfrm>
            <a:off x="11018520" y="6492240"/>
            <a:ext cx="32004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5039" name="Text 34"/>
          <p:cNvSpPr/>
          <p:nvPr/>
        </p:nvSpPr>
        <p:spPr>
          <a:xfrm>
            <a:off x="2834640" y="8046720"/>
            <a:ext cx="1417320" cy="1600200"/>
          </a:xfrm>
          <a:prstGeom prst="flowChartMagneticDisk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WAREHOUSE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MAPS</a:t>
            </a:r>
            <a:endParaRPr lang="en-US" sz="1500" dirty="0"/>
          </a:p>
        </p:txBody>
      </p:sp>
      <p:sp>
        <p:nvSpPr>
          <p:cNvPr id="5040" name="Text 35"/>
          <p:cNvSpPr/>
          <p:nvPr/>
        </p:nvSpPr>
        <p:spPr>
          <a:xfrm>
            <a:off x="4526280" y="8046720"/>
            <a:ext cx="1417320" cy="1600200"/>
          </a:xfrm>
          <a:prstGeom prst="flowChartMagneticDisk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PEER PLAN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TABLE</a:t>
            </a:r>
            <a:endParaRPr lang="en-US" sz="1500" dirty="0"/>
          </a:p>
        </p:txBody>
      </p:sp>
      <p:sp>
        <p:nvSpPr>
          <p:cNvPr id="5041" name="Text 36"/>
          <p:cNvSpPr/>
          <p:nvPr/>
        </p:nvSpPr>
        <p:spPr>
          <a:xfrm>
            <a:off x="7040880" y="8046720"/>
            <a:ext cx="1417320" cy="1600200"/>
          </a:xfrm>
          <a:prstGeom prst="flowChartMagneticDisk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EVENT &amp;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METRICS LOG</a:t>
            </a:r>
            <a:endParaRPr lang="en-US" sz="1500" dirty="0"/>
          </a:p>
        </p:txBody>
      </p:sp>
      <p:sp>
        <p:nvSpPr>
          <p:cNvPr id="5042" name="Shape 37"/>
          <p:cNvSpPr/>
          <p:nvPr/>
        </p:nvSpPr>
        <p:spPr>
          <a:xfrm>
            <a:off x="2148840" y="4846320"/>
            <a:ext cx="0" cy="228600"/>
          </a:xfrm>
          <a:prstGeom prst="line">
            <a:avLst/>
          </a:prstGeom>
          <a:noFill/>
          <a:ln w="25400">
            <a:solidFill>
              <a:srgbClr val="111111"/>
            </a:solidFill>
            <a:prstDash val="dash"/>
          </a:ln>
        </p:spPr>
      </p:sp>
      <p:sp>
        <p:nvSpPr>
          <p:cNvPr id="5043" name="Shape 38"/>
          <p:cNvSpPr/>
          <p:nvPr/>
        </p:nvSpPr>
        <p:spPr>
          <a:xfrm>
            <a:off x="2148840" y="5074920"/>
            <a:ext cx="139446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dash"/>
          </a:ln>
        </p:spPr>
      </p:sp>
      <p:sp>
        <p:nvSpPr>
          <p:cNvPr id="5044" name="Shape 39"/>
          <p:cNvSpPr/>
          <p:nvPr/>
        </p:nvSpPr>
        <p:spPr>
          <a:xfrm>
            <a:off x="3543300" y="5074920"/>
            <a:ext cx="0" cy="2971800"/>
          </a:xfrm>
          <a:prstGeom prst="line">
            <a:avLst/>
          </a:prstGeom>
          <a:noFill/>
          <a:ln w="25400">
            <a:solidFill>
              <a:srgbClr val="111111"/>
            </a:solidFill>
            <a:prstDash val="dash"/>
            <a:tailEnd type="triangle"/>
          </a:ln>
        </p:spPr>
      </p:sp>
      <p:sp>
        <p:nvSpPr>
          <p:cNvPr id="5045" name="Shape 40"/>
          <p:cNvSpPr/>
          <p:nvPr/>
        </p:nvSpPr>
        <p:spPr>
          <a:xfrm>
            <a:off x="5234940" y="5577840"/>
            <a:ext cx="0" cy="2468880"/>
          </a:xfrm>
          <a:prstGeom prst="line">
            <a:avLst/>
          </a:prstGeom>
          <a:noFill/>
          <a:ln w="25400">
            <a:solidFill>
              <a:srgbClr val="111111"/>
            </a:solidFill>
            <a:prstDash val="dash"/>
            <a:tailEnd type="triangle"/>
          </a:ln>
        </p:spPr>
      </p:sp>
      <p:sp>
        <p:nvSpPr>
          <p:cNvPr id="5046" name="Shape 41"/>
          <p:cNvSpPr/>
          <p:nvPr/>
        </p:nvSpPr>
        <p:spPr>
          <a:xfrm>
            <a:off x="7749540" y="6949440"/>
            <a:ext cx="0" cy="1097280"/>
          </a:xfrm>
          <a:prstGeom prst="line">
            <a:avLst/>
          </a:prstGeom>
          <a:noFill/>
          <a:ln w="25400">
            <a:solidFill>
              <a:srgbClr val="111111"/>
            </a:solidFill>
            <a:prstDash val="dash"/>
            <a:tailEnd type="triangle"/>
          </a:ln>
        </p:spPr>
      </p:sp>
      <p:sp>
        <p:nvSpPr>
          <p:cNvPr id="5047" name="Shape 42"/>
          <p:cNvSpPr/>
          <p:nvPr/>
        </p:nvSpPr>
        <p:spPr>
          <a:xfrm>
            <a:off x="8915400" y="7498080"/>
            <a:ext cx="4526280" cy="2514600"/>
          </a:xfrm>
          <a:prstGeom prst="roundRect">
            <a:avLst>
              <a:gd name="adj" fmla="val 5455"/>
            </a:avLst>
          </a:prstGeom>
          <a:solidFill>
            <a:srgbClr val="F2F2F2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5048" name="Text 43"/>
          <p:cNvSpPr txBox="1"/>
          <p:nvPr/>
        </p:nvSpPr>
        <p:spPr>
          <a:xfrm>
            <a:off x="8915400" y="7543800"/>
            <a:ext cx="45262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OPERATOR VIEWS  (read-only)</a:t>
            </a:r>
            <a:endParaRPr lang="en-US" sz="1600" dirty="0"/>
          </a:p>
        </p:txBody>
      </p:sp>
      <p:sp>
        <p:nvSpPr>
          <p:cNvPr id="5049" name="Text 44"/>
          <p:cNvSpPr/>
          <p:nvPr/>
        </p:nvSpPr>
        <p:spPr>
          <a:xfrm>
            <a:off x="9052560" y="8046720"/>
            <a:ext cx="2103120" cy="731520"/>
          </a:xfrm>
          <a:prstGeom prst="hexagon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LIVE FLEET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FLOOR</a:t>
            </a:r>
            <a:endParaRPr lang="en-US" sz="1500" dirty="0"/>
          </a:p>
        </p:txBody>
      </p:sp>
      <p:sp>
        <p:nvSpPr>
          <p:cNvPr id="5050" name="Text 45"/>
          <p:cNvSpPr/>
          <p:nvPr/>
        </p:nvSpPr>
        <p:spPr>
          <a:xfrm>
            <a:off x="11247120" y="8046720"/>
            <a:ext cx="2103120" cy="731520"/>
          </a:xfrm>
          <a:prstGeom prst="hexagon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BENCHMARK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PANEL (A/B)</a:t>
            </a:r>
            <a:endParaRPr lang="en-US" sz="1500" dirty="0"/>
          </a:p>
        </p:txBody>
      </p:sp>
      <p:sp>
        <p:nvSpPr>
          <p:cNvPr id="5051" name="Text 46"/>
          <p:cNvSpPr/>
          <p:nvPr/>
        </p:nvSpPr>
        <p:spPr>
          <a:xfrm>
            <a:off x="9052560" y="9006840"/>
            <a:ext cx="2103120" cy="731520"/>
          </a:xfrm>
          <a:prstGeom prst="hexagon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ORDER ENTRY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PAGE</a:t>
            </a:r>
            <a:endParaRPr lang="en-US" sz="1500" dirty="0"/>
          </a:p>
        </p:txBody>
      </p:sp>
      <p:sp>
        <p:nvSpPr>
          <p:cNvPr id="5052" name="Text 47"/>
          <p:cNvSpPr/>
          <p:nvPr/>
        </p:nvSpPr>
        <p:spPr>
          <a:xfrm>
            <a:off x="11247120" y="9006840"/>
            <a:ext cx="2103120" cy="731520"/>
          </a:xfrm>
          <a:prstGeom prst="hexagon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WEBOTS 3D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VIEW</a:t>
            </a:r>
            <a:endParaRPr lang="en-US" sz="1500" dirty="0"/>
          </a:p>
        </p:txBody>
      </p:sp>
      <p:sp>
        <p:nvSpPr>
          <p:cNvPr id="5053" name="Shape 48"/>
          <p:cNvSpPr/>
          <p:nvPr/>
        </p:nvSpPr>
        <p:spPr>
          <a:xfrm>
            <a:off x="12390120" y="6949440"/>
            <a:ext cx="0" cy="548640"/>
          </a:xfrm>
          <a:prstGeom prst="line">
            <a:avLst/>
          </a:prstGeom>
          <a:noFill/>
          <a:ln w="25400">
            <a:solidFill>
              <a:srgbClr val="111111"/>
            </a:solidFill>
            <a:prstDash val="dash"/>
            <a:tailEnd type="triangle"/>
          </a:ln>
        </p:spPr>
      </p:sp>
      <p:pic>
        <p:nvPicPr>
          <p:cNvPr id="5054" name="Image 3" descr="preencoded.png">    </p:cNvPr>
          <p:cNvPicPr>
            <a:picLocks noChangeAspect="1"/>
          </p:cNvPicPr>
          <p:nvPr/>
        </p:nvPicPr>
        <p:blipFill>
          <a:blip r:embed="rIdRB9"/>
          <a:stretch>
            <a:fillRect/>
          </a:stretch>
        </p:blipFill>
        <p:spPr>
          <a:xfrm>
            <a:off x="228600" y="6309360"/>
            <a:ext cx="2514600" cy="2313432"/>
          </a:xfrm>
          <a:prstGeom prst="rect">
            <a:avLst/>
          </a:prstGeom>
        </p:spPr>
      </p:pic>
      <p:sp>
        <p:nvSpPr>
          <p:cNvPr id="5055" name="Text 49"/>
          <p:cNvSpPr txBox="1"/>
          <p:nvPr/>
        </p:nvSpPr>
        <p:spPr>
          <a:xfrm>
            <a:off x="228600" y="8686800"/>
            <a:ext cx="25146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44444"/>
                </a:solidFill>
                <a:latin typeface="Canva Sans 1" pitchFamily="34" charset="0"/>
                <a:ea typeface="Canva Sans 1" pitchFamily="34" charset="-122"/>
                <a:cs typeface="Canva Sans 1" pitchFamily="34" charset="-120"/>
              </a:rPr>
              <a:t>Hardware prototype</a:t>
            </a:r>
            <a:endParaRPr lang="en-US" sz="1500" dirty="0"/>
          </a:p>
        </p:txBody>
      </p:sp>
      <p:sp>
        <p:nvSpPr>
          <p:cNvPr id="5056" name="Shape 50"/>
          <p:cNvSpPr/>
          <p:nvPr/>
        </p:nvSpPr>
        <p:spPr>
          <a:xfrm>
            <a:off x="13807440" y="1371600"/>
            <a:ext cx="4206240" cy="64465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5057" name="Text 51"/>
          <p:cNvSpPr txBox="1"/>
          <p:nvPr/>
        </p:nvSpPr>
        <p:spPr>
          <a:xfrm>
            <a:off x="13807440" y="1444752"/>
            <a:ext cx="42062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5058" name="Text 52"/>
          <p:cNvSpPr txBox="1"/>
          <p:nvPr/>
        </p:nvSpPr>
        <p:spPr>
          <a:xfrm>
            <a:off x="13807440" y="2057400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44444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EDGE ROBOT LOGIC</a:t>
            </a:r>
            <a:endParaRPr lang="en-US" sz="1350" dirty="0"/>
          </a:p>
        </p:txBody>
      </p:sp>
      <p:pic>
        <p:nvPicPr>
          <p:cNvPr id="5059" name="Image 4" descr="preencoded.png">    </p:cNvPr>
          <p:cNvPicPr>
            <a:picLocks noChangeAspect="1"/>
          </p:cNvPicPr>
          <p:nvPr/>
        </p:nvPicPr>
        <p:blipFill>
          <a:blip r:embed="rIdRB10"/>
          <a:stretch>
            <a:fillRect/>
          </a:stretch>
        </p:blipFill>
        <p:spPr>
          <a:xfrm>
            <a:off x="14648688" y="2386584"/>
            <a:ext cx="512064" cy="512064"/>
          </a:xfrm>
          <a:prstGeom prst="rect">
            <a:avLst/>
          </a:prstGeom>
        </p:spPr>
      </p:pic>
      <p:sp>
        <p:nvSpPr>
          <p:cNvPr id="5060" name="Text 53"/>
          <p:cNvSpPr txBox="1"/>
          <p:nvPr/>
        </p:nvSpPr>
        <p:spPr>
          <a:xfrm>
            <a:off x="13898880" y="2916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nva Sans 1" pitchFamily="34" charset="0"/>
                <a:ea typeface="Canva Sans 1" pitchFamily="34" charset="-122"/>
                <a:cs typeface="Canva Sans 1" pitchFamily="34" charset="-120"/>
              </a:rPr>
              <a:t>Python 3.11</a:t>
            </a:r>
            <a:endParaRPr lang="en-US" sz="1300" dirty="0"/>
          </a:p>
        </p:txBody>
      </p:sp>
      <p:pic>
        <p:nvPicPr>
          <p:cNvPr id="5061" name="Image 5" descr="preencoded.png">    </p:cNvPr>
          <p:cNvPicPr>
            <a:picLocks noChangeAspect="1"/>
          </p:cNvPicPr>
          <p:nvPr/>
        </p:nvPicPr>
        <p:blipFill>
          <a:blip r:embed="rIdRB11"/>
          <a:stretch>
            <a:fillRect/>
          </a:stretch>
        </p:blipFill>
        <p:spPr>
          <a:xfrm>
            <a:off x="16660368" y="2386584"/>
            <a:ext cx="512064" cy="512064"/>
          </a:xfrm>
          <a:prstGeom prst="rect">
            <a:avLst/>
          </a:prstGeom>
        </p:spPr>
      </p:pic>
      <p:sp>
        <p:nvSpPr>
          <p:cNvPr id="5062" name="Text 54"/>
          <p:cNvSpPr txBox="1"/>
          <p:nvPr/>
        </p:nvSpPr>
        <p:spPr>
          <a:xfrm>
            <a:off x="15910560" y="2916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nva Sans 1" pitchFamily="34" charset="0"/>
                <a:ea typeface="Canva Sans 1" pitchFamily="34" charset="-122"/>
                <a:cs typeface="Canva Sans 1" pitchFamily="34" charset="-120"/>
              </a:rPr>
              <a:t>ESP32 · ESP-NOW</a:t>
            </a:r>
            <a:endParaRPr lang="en-US" sz="1300" dirty="0"/>
          </a:p>
        </p:txBody>
      </p:sp>
      <p:sp>
        <p:nvSpPr>
          <p:cNvPr id="5063" name="Shape 55"/>
          <p:cNvSpPr/>
          <p:nvPr/>
        </p:nvSpPr>
        <p:spPr>
          <a:xfrm>
            <a:off x="14036040" y="3246120"/>
            <a:ext cx="374904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5064" name="Text 56"/>
          <p:cNvSpPr txBox="1"/>
          <p:nvPr/>
        </p:nvSpPr>
        <p:spPr>
          <a:xfrm>
            <a:off x="13807440" y="3310128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44444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GATEWAY &amp; DASHBOARD</a:t>
            </a:r>
            <a:endParaRPr lang="en-US" sz="1350" dirty="0"/>
          </a:p>
        </p:txBody>
      </p:sp>
      <p:pic>
        <p:nvPicPr>
          <p:cNvPr id="5065" name="Image 6" descr="preencoded.png">    </p:cNvPr>
          <p:cNvPicPr>
            <a:picLocks noChangeAspect="1"/>
          </p:cNvPicPr>
          <p:nvPr/>
        </p:nvPicPr>
        <p:blipFill>
          <a:blip r:embed="rIdRB12"/>
          <a:stretch>
            <a:fillRect/>
          </a:stretch>
        </p:blipFill>
        <p:spPr>
          <a:xfrm>
            <a:off x="14145768" y="3639312"/>
            <a:ext cx="512064" cy="512064"/>
          </a:xfrm>
          <a:prstGeom prst="rect">
            <a:avLst/>
          </a:prstGeom>
        </p:spPr>
      </p:pic>
      <p:sp>
        <p:nvSpPr>
          <p:cNvPr id="5066" name="Text 57"/>
          <p:cNvSpPr txBox="1"/>
          <p:nvPr/>
        </p:nvSpPr>
        <p:spPr>
          <a:xfrm>
            <a:off x="13898880" y="4169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nva Sans 1" pitchFamily="34" charset="0"/>
                <a:ea typeface="Canva Sans 1" pitchFamily="34" charset="-122"/>
                <a:cs typeface="Canva Sans 1" pitchFamily="34" charset="-120"/>
              </a:rPr>
              <a:t>FastAPI</a:t>
            </a:r>
            <a:endParaRPr lang="en-US" sz="1300" dirty="0"/>
          </a:p>
        </p:txBody>
      </p:sp>
      <p:pic>
        <p:nvPicPr>
          <p:cNvPr id="5067" name="Image 7" descr="preencoded.png">    </p:cNvPr>
          <p:cNvPicPr>
            <a:picLocks noChangeAspect="1"/>
          </p:cNvPicPr>
          <p:nvPr/>
        </p:nvPicPr>
        <p:blipFill>
          <a:blip r:embed="rIdRB13"/>
          <a:stretch>
            <a:fillRect/>
          </a:stretch>
        </p:blipFill>
        <p:spPr>
          <a:xfrm>
            <a:off x="15151608" y="3639312"/>
            <a:ext cx="512064" cy="512064"/>
          </a:xfrm>
          <a:prstGeom prst="rect">
            <a:avLst/>
          </a:prstGeom>
        </p:spPr>
      </p:pic>
      <p:sp>
        <p:nvSpPr>
          <p:cNvPr id="5068" name="Text 58"/>
          <p:cNvSpPr txBox="1"/>
          <p:nvPr/>
        </p:nvSpPr>
        <p:spPr>
          <a:xfrm>
            <a:off x="14904720" y="4169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nva Sans 1" pitchFamily="34" charset="0"/>
                <a:ea typeface="Canva Sans 1" pitchFamily="34" charset="-122"/>
                <a:cs typeface="Canva Sans 1" pitchFamily="34" charset="-120"/>
              </a:rPr>
              <a:t>WebSockets</a:t>
            </a:r>
            <a:endParaRPr lang="en-US" sz="1300" dirty="0"/>
          </a:p>
        </p:txBody>
      </p:sp>
      <p:pic>
        <p:nvPicPr>
          <p:cNvPr id="5069" name="Image 8" descr="preencoded.png">    </p:cNvPr>
          <p:cNvPicPr>
            <a:picLocks noChangeAspect="1"/>
          </p:cNvPicPr>
          <p:nvPr/>
        </p:nvPicPr>
        <p:blipFill>
          <a:blip r:embed="rIdRB14"/>
          <a:stretch>
            <a:fillRect/>
          </a:stretch>
        </p:blipFill>
        <p:spPr>
          <a:xfrm>
            <a:off x="16157448" y="3639312"/>
            <a:ext cx="512064" cy="512064"/>
          </a:xfrm>
          <a:prstGeom prst="rect">
            <a:avLst/>
          </a:prstGeom>
        </p:spPr>
      </p:pic>
      <p:sp>
        <p:nvSpPr>
          <p:cNvPr id="5070" name="Text 59"/>
          <p:cNvSpPr txBox="1"/>
          <p:nvPr/>
        </p:nvSpPr>
        <p:spPr>
          <a:xfrm>
            <a:off x="15910560" y="4169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nva Sans 1" pitchFamily="34" charset="0"/>
                <a:ea typeface="Canva Sans 1" pitchFamily="34" charset="-122"/>
                <a:cs typeface="Canva Sans 1" pitchFamily="34" charset="-120"/>
              </a:rPr>
              <a:t>JavaScript</a:t>
            </a:r>
            <a:endParaRPr lang="en-US" sz="1300" dirty="0"/>
          </a:p>
        </p:txBody>
      </p:sp>
      <p:pic>
        <p:nvPicPr>
          <p:cNvPr id="5071" name="Image 9" descr="preencoded.png">    </p:cNvPr>
          <p:cNvPicPr>
            <a:picLocks noChangeAspect="1"/>
          </p:cNvPicPr>
          <p:nvPr/>
        </p:nvPicPr>
        <p:blipFill>
          <a:blip r:embed="rIdRB1"/>
          <a:stretch>
            <a:fillRect/>
          </a:stretch>
        </p:blipFill>
        <p:spPr>
          <a:xfrm>
            <a:off x="17163288" y="3639312"/>
            <a:ext cx="512064" cy="512064"/>
          </a:xfrm>
          <a:prstGeom prst="rect">
            <a:avLst/>
          </a:prstGeom>
        </p:spPr>
      </p:pic>
      <p:sp>
        <p:nvSpPr>
          <p:cNvPr id="5072" name="Text 60"/>
          <p:cNvSpPr txBox="1"/>
          <p:nvPr/>
        </p:nvSpPr>
        <p:spPr>
          <a:xfrm>
            <a:off x="16916400" y="4169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nva Sans 1" pitchFamily="34" charset="0"/>
                <a:ea typeface="Canva Sans 1" pitchFamily="34" charset="-122"/>
                <a:cs typeface="Canva Sans 1" pitchFamily="34" charset="-120"/>
              </a:rPr>
              <a:t>HTML5</a:t>
            </a:r>
            <a:endParaRPr lang="en-US" sz="1300" dirty="0"/>
          </a:p>
        </p:txBody>
      </p:sp>
      <p:sp>
        <p:nvSpPr>
          <p:cNvPr id="5073" name="Shape 61"/>
          <p:cNvSpPr/>
          <p:nvPr/>
        </p:nvSpPr>
        <p:spPr>
          <a:xfrm>
            <a:off x="14036040" y="4498848"/>
            <a:ext cx="374904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5074" name="Text 62"/>
          <p:cNvSpPr txBox="1"/>
          <p:nvPr/>
        </p:nvSpPr>
        <p:spPr>
          <a:xfrm>
            <a:off x="13807440" y="4562856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44444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SIMULATION &amp; VERIFICATION</a:t>
            </a:r>
            <a:endParaRPr lang="en-US" sz="1350" dirty="0"/>
          </a:p>
        </p:txBody>
      </p:sp>
      <p:pic>
        <p:nvPicPr>
          <p:cNvPr id="5075" name="Image 10" descr="preencoded.png">    </p:cNvPr>
          <p:cNvPicPr>
            <a:picLocks noChangeAspect="1"/>
          </p:cNvPicPr>
          <p:nvPr/>
        </p:nvPicPr>
        <p:blipFill>
          <a:blip r:embed="rIdRB2"/>
          <a:stretch>
            <a:fillRect/>
          </a:stretch>
        </p:blipFill>
        <p:spPr>
          <a:xfrm>
            <a:off x="14313408" y="4892040"/>
            <a:ext cx="512064" cy="512064"/>
          </a:xfrm>
          <a:prstGeom prst="rect">
            <a:avLst/>
          </a:prstGeom>
        </p:spPr>
      </p:pic>
      <p:sp>
        <p:nvSpPr>
          <p:cNvPr id="5076" name="Text 63"/>
          <p:cNvSpPr txBox="1"/>
          <p:nvPr/>
        </p:nvSpPr>
        <p:spPr>
          <a:xfrm>
            <a:off x="13898880" y="5422392"/>
            <a:ext cx="134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nva Sans 1" pitchFamily="34" charset="0"/>
                <a:ea typeface="Canva Sans 1" pitchFamily="34" charset="-122"/>
                <a:cs typeface="Canva Sans 1" pitchFamily="34" charset="-120"/>
              </a:rPr>
              <a:t>Webots 3D</a:t>
            </a:r>
            <a:endParaRPr lang="en-US" sz="1300" dirty="0"/>
          </a:p>
        </p:txBody>
      </p:sp>
      <p:pic>
        <p:nvPicPr>
          <p:cNvPr id="5077" name="Image 11" descr="preencoded.png">    </p:cNvPr>
          <p:cNvPicPr>
            <a:picLocks noChangeAspect="1"/>
          </p:cNvPicPr>
          <p:nvPr/>
        </p:nvPicPr>
        <p:blipFill>
          <a:blip r:embed="rIdRB3"/>
          <a:stretch>
            <a:fillRect/>
          </a:stretch>
        </p:blipFill>
        <p:spPr>
          <a:xfrm>
            <a:off x="15654528" y="4892040"/>
            <a:ext cx="512064" cy="512064"/>
          </a:xfrm>
          <a:prstGeom prst="rect">
            <a:avLst/>
          </a:prstGeom>
        </p:spPr>
      </p:pic>
      <p:sp>
        <p:nvSpPr>
          <p:cNvPr id="5078" name="Text 64"/>
          <p:cNvSpPr txBox="1"/>
          <p:nvPr/>
        </p:nvSpPr>
        <p:spPr>
          <a:xfrm>
            <a:off x="15240000" y="5422392"/>
            <a:ext cx="134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nva Sans 1" pitchFamily="34" charset="0"/>
                <a:ea typeface="Canva Sans 1" pitchFamily="34" charset="-122"/>
                <a:cs typeface="Canva Sans 1" pitchFamily="34" charset="-120"/>
              </a:rPr>
              <a:t>pytest</a:t>
            </a:r>
            <a:endParaRPr lang="en-US" sz="1300" dirty="0"/>
          </a:p>
        </p:txBody>
      </p:sp>
      <p:pic>
        <p:nvPicPr>
          <p:cNvPr id="5079" name="Image 12" descr="preencoded.png">    </p:cNvPr>
          <p:cNvPicPr>
            <a:picLocks noChangeAspect="1"/>
          </p:cNvPicPr>
          <p:nvPr/>
        </p:nvPicPr>
        <p:blipFill>
          <a:blip r:embed="rIdRB4"/>
          <a:stretch>
            <a:fillRect/>
          </a:stretch>
        </p:blipFill>
        <p:spPr>
          <a:xfrm>
            <a:off x="16995648" y="4892040"/>
            <a:ext cx="512064" cy="512064"/>
          </a:xfrm>
          <a:prstGeom prst="rect">
            <a:avLst/>
          </a:prstGeom>
        </p:spPr>
      </p:pic>
      <p:sp>
        <p:nvSpPr>
          <p:cNvPr id="5080" name="Text 65"/>
          <p:cNvSpPr txBox="1"/>
          <p:nvPr/>
        </p:nvSpPr>
        <p:spPr>
          <a:xfrm>
            <a:off x="16581120" y="5422392"/>
            <a:ext cx="134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nva Sans 1" pitchFamily="34" charset="0"/>
                <a:ea typeface="Canva Sans 1" pitchFamily="34" charset="-122"/>
                <a:cs typeface="Canva Sans 1" pitchFamily="34" charset="-120"/>
              </a:rPr>
              <a:t>Git</a:t>
            </a:r>
            <a:endParaRPr lang="en-US" sz="1300" dirty="0"/>
          </a:p>
        </p:txBody>
      </p:sp>
      <p:sp>
        <p:nvSpPr>
          <p:cNvPr id="5081" name="Shape 66"/>
          <p:cNvSpPr/>
          <p:nvPr/>
        </p:nvSpPr>
        <p:spPr>
          <a:xfrm>
            <a:off x="14036040" y="5751576"/>
            <a:ext cx="374904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5082" name="Text 67"/>
          <p:cNvSpPr txBox="1"/>
          <p:nvPr/>
        </p:nvSpPr>
        <p:spPr>
          <a:xfrm>
            <a:off x="13807440" y="5797296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44444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CORE ALGORITHMS</a:t>
            </a:r>
            <a:endParaRPr lang="en-US" sz="1350" dirty="0"/>
          </a:p>
        </p:txBody>
      </p:sp>
      <p:sp>
        <p:nvSpPr>
          <p:cNvPr id="5083" name="Text 68"/>
          <p:cNvSpPr/>
          <p:nvPr/>
        </p:nvSpPr>
        <p:spPr>
          <a:xfrm>
            <a:off x="14081760" y="6144768"/>
            <a:ext cx="3657600" cy="338328"/>
          </a:xfrm>
          <a:prstGeom prst="roundRect">
            <a:avLst>
              <a:gd name="adj" fmla="val 48649"/>
            </a:avLst>
          </a:prstGeom>
          <a:solidFill>
            <a:srgbClr val="F2F2F2"/>
          </a:solidFill>
          <a:ln w="1270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nva Sans 1" pitchFamily="34" charset="0"/>
                <a:ea typeface="Canva Sans 1" pitchFamily="34" charset="-122"/>
                <a:cs typeface="Canva Sans 1" pitchFamily="34" charset="-120"/>
              </a:rPr>
              <a:t>Sealed-bid reverse auction</a:t>
            </a:r>
            <a:endParaRPr lang="en-US" sz="1350" dirty="0"/>
          </a:p>
        </p:txBody>
      </p:sp>
      <p:sp>
        <p:nvSpPr>
          <p:cNvPr id="5084" name="Text 69"/>
          <p:cNvSpPr/>
          <p:nvPr/>
        </p:nvSpPr>
        <p:spPr>
          <a:xfrm>
            <a:off x="14081760" y="6547104"/>
            <a:ext cx="3657600" cy="338328"/>
          </a:xfrm>
          <a:prstGeom prst="roundRect">
            <a:avLst>
              <a:gd name="adj" fmla="val 48649"/>
            </a:avLst>
          </a:prstGeom>
          <a:solidFill>
            <a:srgbClr val="F2F2F2"/>
          </a:solidFill>
          <a:ln w="1270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nva Sans 1" pitchFamily="34" charset="0"/>
                <a:ea typeface="Canva Sans 1" pitchFamily="34" charset="-122"/>
                <a:cs typeface="Canva Sans 1" pitchFamily="34" charset="-120"/>
              </a:rPr>
              <a:t>Free-time-window A*</a:t>
            </a:r>
            <a:endParaRPr lang="en-US" sz="1350" dirty="0"/>
          </a:p>
        </p:txBody>
      </p:sp>
      <p:sp>
        <p:nvSpPr>
          <p:cNvPr id="5085" name="Text 70"/>
          <p:cNvSpPr/>
          <p:nvPr/>
        </p:nvSpPr>
        <p:spPr>
          <a:xfrm>
            <a:off x="14081760" y="6949440"/>
            <a:ext cx="3657600" cy="338328"/>
          </a:xfrm>
          <a:prstGeom prst="roundRect">
            <a:avLst>
              <a:gd name="adj" fmla="val 48649"/>
            </a:avLst>
          </a:prstGeom>
          <a:solidFill>
            <a:srgbClr val="F2F2F2"/>
          </a:solidFill>
          <a:ln w="1270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nva Sans 1" pitchFamily="34" charset="0"/>
                <a:ea typeface="Canva Sans 1" pitchFamily="34" charset="-122"/>
                <a:cs typeface="Canva Sans 1" pitchFamily="34" charset="-120"/>
              </a:rPr>
              <a:t>Precedence execution (ADG)</a:t>
            </a:r>
            <a:endParaRPr lang="en-US" sz="1350" dirty="0"/>
          </a:p>
        </p:txBody>
      </p:sp>
      <p:sp>
        <p:nvSpPr>
          <p:cNvPr id="5086" name="Text 71"/>
          <p:cNvSpPr/>
          <p:nvPr/>
        </p:nvSpPr>
        <p:spPr>
          <a:xfrm>
            <a:off x="14081760" y="7351776"/>
            <a:ext cx="3657600" cy="338328"/>
          </a:xfrm>
          <a:prstGeom prst="roundRect">
            <a:avLst>
              <a:gd name="adj" fmla="val 48649"/>
            </a:avLst>
          </a:prstGeom>
          <a:solidFill>
            <a:srgbClr val="F2F2F2"/>
          </a:solidFill>
          <a:ln w="1270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nva Sans 1" pitchFamily="34" charset="0"/>
                <a:ea typeface="Canva Sans 1" pitchFamily="34" charset="-122"/>
                <a:cs typeface="Canva Sans 1" pitchFamily="34" charset="-120"/>
              </a:rPr>
              <a:t>Well-formed Kiva-style maps</a:t>
            </a:r>
            <a:endParaRPr lang="en-US" sz="1350" dirty="0"/>
          </a:p>
        </p:txBody>
      </p:sp>
      <p:sp>
        <p:nvSpPr>
          <p:cNvPr id="5087" name="Text 72"/>
          <p:cNvSpPr txBox="1"/>
          <p:nvPr/>
        </p:nvSpPr>
        <p:spPr>
          <a:xfrm>
            <a:off x="13807440" y="8092440"/>
            <a:ext cx="420624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3000" b="1" dirty="0">
                <a:solidFill>
                  <a:srgbClr val="111111"/>
                </a:solidFill>
                <a:latin typeface="Canva Sans 1 Bold" pitchFamily="34" charset="0"/>
                <a:ea typeface="Canva Sans 1 Bold" pitchFamily="34" charset="-122"/>
                <a:cs typeface="Canva Sans 1 Bold" pitchFamily="34" charset="-120"/>
              </a:rPr>
              <a:t>Software Link:</a:t>
            </a:r>
            <a:endParaRPr lang="en-US" sz="3000" dirty="0"/>
          </a:p>
          <a:p>
            <a:pPr algn="l" indent="0" marL="0">
              <a:spcAft>
                <a:spcPts val="1800"/>
              </a:spcAft>
              <a:buNone/>
            </a:pPr>
            <a:r>
              <a:rPr lang="en-US" sz="3000" b="1" dirty="0">
                <a:solidFill>
                  <a:srgbClr val="111111"/>
                </a:solidFill>
                <a:latin typeface="Canva Sans 1 Bold" pitchFamily="34" charset="0"/>
                <a:ea typeface="Canva Sans 1 Bold" pitchFamily="34" charset="-122"/>
                <a:cs typeface="Canva Sans 1 Bold" pitchFamily="34" charset="-120"/>
              </a:rPr>
              <a:t>Hardware Link:</a:t>
            </a:r>
            <a:endParaRPr lang="en-US" sz="3000" dirty="0"/>
          </a:p>
        </p:txBody>
      </p:sp>
      <p:sp>
        <p:nvSpPr>
          <p:cNvPr name="TextBox 105" id="105"/>
          <p:cNvSpPr txBox="true"/>
          <p:nvPr/>
        </p:nvSpPr>
        <p:spPr>
          <a:xfrm rot="0">
            <a:off x="5544853" y="403900"/>
            <a:ext cx="759575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b="true" sz="3599">
                <a:solidFill>
                  <a:srgbClr val="1F2328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TECHNICAL APPROACH</a:t>
            </a:r>
          </a:p>
        </p:txBody>
      </p:sp>
      <p:grpSp>
        <p:nvGrpSpPr>
          <p:cNvPr name="Group 125" id="125"/>
          <p:cNvGrpSpPr/>
          <p:nvPr/>
        </p:nvGrpSpPr>
        <p:grpSpPr>
          <a:xfrm rot="0">
            <a:off x="15754467" y="137360"/>
            <a:ext cx="2304215" cy="1088006"/>
            <a:chOff x="0" y="0"/>
            <a:chExt cx="4499699" cy="212467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DAHTsl3G88s</dc:identifier>
  <dcterms:modified xsi:type="dcterms:W3CDTF">2011-08-01T06:04:30Z</dcterms:modified>
  <cp:revision>1</cp:revision>
  <dc:title>SW_RoboSamanvay</dc:title>
</cp:coreProperties>
</file>